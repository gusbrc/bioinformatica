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curta: o BioCompiler 1.0 recebe sequências de DNA, verifica se formam uma região codificante segundo a convenção da atividade e, quando sim, gera o pré-mRNA. Os blocos coloridos no slide são o motivo visual da apresentação: verde = START, azul = códons internos, vermelho = STOP.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Situar o trabalho: três fases, cada uma com um software. O 1.0 cuida só da transcrição. Frisar que a convenção é didática, o que justifica decisões que viriam a seguir (frameshift e STOP prematuro sem sequência de referência).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atividade pede para "pensar como um compilador". As três fases clássicas mapeiam diretamente nos seis casos: um erro léxico (base inválida), quatro erros sintáticos e a geração do pré-mRNA como saída.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dois formatos de saída seguem as seções 9 e 11 da especificação. O arquivo exportado usa ponto e vírgula para facilitar a correção automática; os textos da coluna resultado são reproduzidos exatamente como na spec.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Regra da seção 4: primeiro ATG, leitura em trincas, primeiro STOP em fase. Bases antes do ATG existem e não fazem parte da região codificante. Por padrão o programa transcreve a linha inteira; há uma opção para transcrever só a ORF.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Tabela da seção 8 com os exemplos da seção 14. Os blocos coloridos mostram o que o analisador enxerga em cada entrada: no caso 5, note que a inserção de um A empurra o TAA para fora do quadro; no caso 6, o TAA aparece em fase e ainda sobra sequência depois.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Decisão de projeto menos óbvia. Se o quadro não fecha em trincas, não faz sentido procurar STOP em fase: o frameshift precisa vir antes. É isso que separa os casos 4 e 5 da especificação, que diferem por uma única 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motor não conhece Streamlit nem argparse: é uma função pura sobre strings. As duas interfaces só formatam. Isso facilita testar contra a especificação e reaproveitar o motor no BioCompiler 2.0.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Trecho real do motor (nomes simplificados no slide). Destacar a ordem das verificações, que é a cascata do slide 7, e o fato de que o quadro de leitura é medido a partir do START.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ao vivo. Ter o app já aberto no navegador e o entrada.txt à mão. Se o Streamlit falhar, o plano B é a linha de comando, que produz a mesma saída.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spec avisa que a correção é automática e que o aluno deve implementar um analisador, não memorizar casos. Por isso a coluna da direita: entradas que não estão no documento e que uma versão que só cobrisse os exemplos erraria. O prefixo de tamanho arbitrário é o teste mais importante.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sendo honesto sobre o que é convenção e o que é biologia. As observações das seções 6 e 7 da spec dizem isso explicitamente. Terminar apontando o que o 2.0 recebe.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310896" cy="310896"/>
          </a:xfrm>
          <a:prstGeom prst="roundRect">
            <a:avLst>
              <a:gd name="adj" fmla="val 18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502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020" dirty="0"/>
          </a:p>
        </p:txBody>
      </p:sp>
      <p:sp>
        <p:nvSpPr>
          <p:cNvPr id="4" name="Shape 2"/>
          <p:cNvSpPr/>
          <p:nvPr/>
        </p:nvSpPr>
        <p:spPr>
          <a:xfrm>
            <a:off x="805404" y="502920"/>
            <a:ext cx="310896" cy="310896"/>
          </a:xfrm>
          <a:prstGeom prst="roundRect">
            <a:avLst>
              <a:gd name="adj" fmla="val 18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5404" y="502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1153607" y="502920"/>
            <a:ext cx="310896" cy="310896"/>
          </a:xfrm>
          <a:prstGeom prst="roundRect">
            <a:avLst>
              <a:gd name="adj" fmla="val 18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53607" y="502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1501811" y="502920"/>
            <a:ext cx="310896" cy="310896"/>
          </a:xfrm>
          <a:prstGeom prst="roundRect">
            <a:avLst>
              <a:gd name="adj" fmla="val 18000"/>
            </a:avLst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01811" y="502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1850014" y="502920"/>
            <a:ext cx="310896" cy="310896"/>
          </a:xfrm>
          <a:prstGeom prst="roundRect">
            <a:avLst>
              <a:gd name="adj" fmla="val 18000"/>
            </a:avLst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850014" y="502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2198218" y="502920"/>
            <a:ext cx="310896" cy="310896"/>
          </a:xfrm>
          <a:prstGeom prst="roundRect">
            <a:avLst>
              <a:gd name="adj" fmla="val 18000"/>
            </a:avLst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198218" y="502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2546421" y="502920"/>
            <a:ext cx="310896" cy="310896"/>
          </a:xfrm>
          <a:prstGeom prst="roundRect">
            <a:avLst>
              <a:gd name="adj" fmla="val 18000"/>
            </a:avLst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546421" y="502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2894625" y="502920"/>
            <a:ext cx="310896" cy="310896"/>
          </a:xfrm>
          <a:prstGeom prst="roundRect">
            <a:avLst>
              <a:gd name="adj" fmla="val 18000"/>
            </a:avLst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894625" y="502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3242828" y="502920"/>
            <a:ext cx="310896" cy="310896"/>
          </a:xfrm>
          <a:prstGeom prst="roundRect">
            <a:avLst>
              <a:gd name="adj" fmla="val 18000"/>
            </a:avLst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242828" y="502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3591032" y="502920"/>
            <a:ext cx="310896" cy="310896"/>
          </a:xfrm>
          <a:prstGeom prst="roundRect">
            <a:avLst>
              <a:gd name="adj" fmla="val 18000"/>
            </a:avLst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591032" y="502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3939235" y="502920"/>
            <a:ext cx="310896" cy="310896"/>
          </a:xfrm>
          <a:prstGeom prst="roundRect">
            <a:avLst>
              <a:gd name="adj" fmla="val 18000"/>
            </a:avLst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939235" y="502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4287439" y="502920"/>
            <a:ext cx="310896" cy="310896"/>
          </a:xfrm>
          <a:prstGeom prst="roundRect">
            <a:avLst>
              <a:gd name="adj" fmla="val 18000"/>
            </a:avLst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287439" y="502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4635642" y="502920"/>
            <a:ext cx="310896" cy="310896"/>
          </a:xfrm>
          <a:prstGeom prst="roundRect">
            <a:avLst>
              <a:gd name="adj" fmla="val 18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635642" y="502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4983846" y="502920"/>
            <a:ext cx="310896" cy="310896"/>
          </a:xfrm>
          <a:prstGeom prst="roundRect">
            <a:avLst>
              <a:gd name="adj" fmla="val 18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983846" y="502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020" dirty="0"/>
          </a:p>
        </p:txBody>
      </p:sp>
      <p:sp>
        <p:nvSpPr>
          <p:cNvPr id="30" name="Shape 28"/>
          <p:cNvSpPr/>
          <p:nvPr/>
        </p:nvSpPr>
        <p:spPr>
          <a:xfrm>
            <a:off x="5332049" y="502920"/>
            <a:ext cx="310896" cy="310896"/>
          </a:xfrm>
          <a:prstGeom prst="roundRect">
            <a:avLst>
              <a:gd name="adj" fmla="val 18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332049" y="502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02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1417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BioCompiler 1.0</a:t>
            </a:r>
            <a:endParaRPr lang="en-US" sz="48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F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Transcriber: de uma fita de DNA ao pré-mRNA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457200" y="2926080"/>
            <a:ext cx="310896" cy="310896"/>
          </a:xfrm>
          <a:prstGeom prst="roundRect">
            <a:avLst>
              <a:gd name="adj" fmla="val 18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57200" y="2926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020" dirty="0"/>
          </a:p>
        </p:txBody>
      </p:sp>
      <p:sp>
        <p:nvSpPr>
          <p:cNvPr id="36" name="Shape 34"/>
          <p:cNvSpPr/>
          <p:nvPr/>
        </p:nvSpPr>
        <p:spPr>
          <a:xfrm>
            <a:off x="805404" y="2926080"/>
            <a:ext cx="310896" cy="310896"/>
          </a:xfrm>
          <a:prstGeom prst="roundRect">
            <a:avLst>
              <a:gd name="adj" fmla="val 18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05404" y="2926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endParaRPr lang="en-US" sz="1020" dirty="0"/>
          </a:p>
        </p:txBody>
      </p:sp>
      <p:sp>
        <p:nvSpPr>
          <p:cNvPr id="38" name="Shape 36"/>
          <p:cNvSpPr/>
          <p:nvPr/>
        </p:nvSpPr>
        <p:spPr>
          <a:xfrm>
            <a:off x="1153607" y="2926080"/>
            <a:ext cx="310896" cy="310896"/>
          </a:xfrm>
          <a:prstGeom prst="roundRect">
            <a:avLst>
              <a:gd name="adj" fmla="val 18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153607" y="2926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1020" dirty="0"/>
          </a:p>
        </p:txBody>
      </p:sp>
      <p:sp>
        <p:nvSpPr>
          <p:cNvPr id="40" name="Shape 38"/>
          <p:cNvSpPr/>
          <p:nvPr/>
        </p:nvSpPr>
        <p:spPr>
          <a:xfrm>
            <a:off x="1501811" y="2926080"/>
            <a:ext cx="310896" cy="310896"/>
          </a:xfrm>
          <a:prstGeom prst="roundRect">
            <a:avLst>
              <a:gd name="adj" fmla="val 18000"/>
            </a:avLst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501811" y="2926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1020" dirty="0"/>
          </a:p>
        </p:txBody>
      </p:sp>
      <p:sp>
        <p:nvSpPr>
          <p:cNvPr id="42" name="Shape 40"/>
          <p:cNvSpPr/>
          <p:nvPr/>
        </p:nvSpPr>
        <p:spPr>
          <a:xfrm>
            <a:off x="1850014" y="2926080"/>
            <a:ext cx="310896" cy="310896"/>
          </a:xfrm>
          <a:prstGeom prst="roundRect">
            <a:avLst>
              <a:gd name="adj" fmla="val 18000"/>
            </a:avLst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850014" y="2926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020" dirty="0"/>
          </a:p>
        </p:txBody>
      </p:sp>
      <p:sp>
        <p:nvSpPr>
          <p:cNvPr id="44" name="Shape 42"/>
          <p:cNvSpPr/>
          <p:nvPr/>
        </p:nvSpPr>
        <p:spPr>
          <a:xfrm>
            <a:off x="2198218" y="2926080"/>
            <a:ext cx="310896" cy="310896"/>
          </a:xfrm>
          <a:prstGeom prst="roundRect">
            <a:avLst>
              <a:gd name="adj" fmla="val 18000"/>
            </a:avLst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2198218" y="2926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endParaRPr lang="en-US" sz="1020" dirty="0"/>
          </a:p>
        </p:txBody>
      </p:sp>
      <p:sp>
        <p:nvSpPr>
          <p:cNvPr id="46" name="Shape 44"/>
          <p:cNvSpPr/>
          <p:nvPr/>
        </p:nvSpPr>
        <p:spPr>
          <a:xfrm>
            <a:off x="2546421" y="2926080"/>
            <a:ext cx="310896" cy="310896"/>
          </a:xfrm>
          <a:prstGeom prst="roundRect">
            <a:avLst>
              <a:gd name="adj" fmla="val 18000"/>
            </a:avLst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2546421" y="2926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020" dirty="0"/>
          </a:p>
        </p:txBody>
      </p:sp>
      <p:sp>
        <p:nvSpPr>
          <p:cNvPr id="48" name="Shape 46"/>
          <p:cNvSpPr/>
          <p:nvPr/>
        </p:nvSpPr>
        <p:spPr>
          <a:xfrm>
            <a:off x="2894625" y="2926080"/>
            <a:ext cx="310896" cy="310896"/>
          </a:xfrm>
          <a:prstGeom prst="roundRect">
            <a:avLst>
              <a:gd name="adj" fmla="val 18000"/>
            </a:avLst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2894625" y="2926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020" dirty="0"/>
          </a:p>
        </p:txBody>
      </p:sp>
      <p:sp>
        <p:nvSpPr>
          <p:cNvPr id="50" name="Shape 48"/>
          <p:cNvSpPr/>
          <p:nvPr/>
        </p:nvSpPr>
        <p:spPr>
          <a:xfrm>
            <a:off x="3242828" y="2926080"/>
            <a:ext cx="310896" cy="310896"/>
          </a:xfrm>
          <a:prstGeom prst="roundRect">
            <a:avLst>
              <a:gd name="adj" fmla="val 18000"/>
            </a:avLst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3242828" y="2926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020" dirty="0"/>
          </a:p>
        </p:txBody>
      </p:sp>
      <p:sp>
        <p:nvSpPr>
          <p:cNvPr id="52" name="Shape 50"/>
          <p:cNvSpPr/>
          <p:nvPr/>
        </p:nvSpPr>
        <p:spPr>
          <a:xfrm>
            <a:off x="3591032" y="2926080"/>
            <a:ext cx="310896" cy="310896"/>
          </a:xfrm>
          <a:prstGeom prst="roundRect">
            <a:avLst>
              <a:gd name="adj" fmla="val 18000"/>
            </a:avLst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3591032" y="2926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020" dirty="0"/>
          </a:p>
        </p:txBody>
      </p:sp>
      <p:sp>
        <p:nvSpPr>
          <p:cNvPr id="54" name="Shape 52"/>
          <p:cNvSpPr/>
          <p:nvPr/>
        </p:nvSpPr>
        <p:spPr>
          <a:xfrm>
            <a:off x="3939235" y="2926080"/>
            <a:ext cx="310896" cy="310896"/>
          </a:xfrm>
          <a:prstGeom prst="roundRect">
            <a:avLst>
              <a:gd name="adj" fmla="val 18000"/>
            </a:avLst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3939235" y="2926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020" dirty="0"/>
          </a:p>
        </p:txBody>
      </p:sp>
      <p:sp>
        <p:nvSpPr>
          <p:cNvPr id="56" name="Shape 54"/>
          <p:cNvSpPr/>
          <p:nvPr/>
        </p:nvSpPr>
        <p:spPr>
          <a:xfrm>
            <a:off x="4287439" y="2926080"/>
            <a:ext cx="310896" cy="310896"/>
          </a:xfrm>
          <a:prstGeom prst="roundRect">
            <a:avLst>
              <a:gd name="adj" fmla="val 18000"/>
            </a:avLst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4287439" y="2926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1020" dirty="0"/>
          </a:p>
        </p:txBody>
      </p:sp>
      <p:sp>
        <p:nvSpPr>
          <p:cNvPr id="58" name="Shape 56"/>
          <p:cNvSpPr/>
          <p:nvPr/>
        </p:nvSpPr>
        <p:spPr>
          <a:xfrm>
            <a:off x="4635642" y="2926080"/>
            <a:ext cx="310896" cy="310896"/>
          </a:xfrm>
          <a:prstGeom prst="roundRect">
            <a:avLst>
              <a:gd name="adj" fmla="val 18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4635642" y="2926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endParaRPr lang="en-US" sz="1020" dirty="0"/>
          </a:p>
        </p:txBody>
      </p:sp>
      <p:sp>
        <p:nvSpPr>
          <p:cNvPr id="60" name="Shape 58"/>
          <p:cNvSpPr/>
          <p:nvPr/>
        </p:nvSpPr>
        <p:spPr>
          <a:xfrm>
            <a:off x="4983846" y="2926080"/>
            <a:ext cx="310896" cy="310896"/>
          </a:xfrm>
          <a:prstGeom prst="roundRect">
            <a:avLst>
              <a:gd name="adj" fmla="val 18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4983846" y="2926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020" dirty="0"/>
          </a:p>
        </p:txBody>
      </p:sp>
      <p:sp>
        <p:nvSpPr>
          <p:cNvPr id="62" name="Shape 60"/>
          <p:cNvSpPr/>
          <p:nvPr/>
        </p:nvSpPr>
        <p:spPr>
          <a:xfrm>
            <a:off x="5332049" y="2926080"/>
            <a:ext cx="310896" cy="310896"/>
          </a:xfrm>
          <a:prstGeom prst="roundRect">
            <a:avLst>
              <a:gd name="adj" fmla="val 18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5332049" y="2926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020" dirty="0"/>
          </a:p>
        </p:txBody>
      </p:sp>
      <p:sp>
        <p:nvSpPr>
          <p:cNvPr id="64" name="Text 62"/>
          <p:cNvSpPr txBox="1"/>
          <p:nvPr/>
        </p:nvSpPr>
        <p:spPr>
          <a:xfrm>
            <a:off x="457200" y="3840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Gustavo</a:t>
            </a:r>
            <a:endParaRPr lang="en-US" sz="1600" dirty="0"/>
          </a:p>
        </p:txBody>
      </p:sp>
      <p:sp>
        <p:nvSpPr>
          <p:cNvPr id="65" name="Text 63"/>
          <p:cNvSpPr txBox="1"/>
          <p:nvPr/>
        </p:nvSpPr>
        <p:spPr>
          <a:xfrm>
            <a:off x="457200" y="4160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Tópicos em Bioinformática  ·  Ciência da Computação  ·  UFPI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o 1.0 entra no fluxo da informação genética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1874520" cy="1463040"/>
          </a:xfrm>
          <a:prstGeom prst="roundRect">
            <a:avLst>
              <a:gd name="adj" fmla="val 6250"/>
            </a:avLst>
          </a:prstGeom>
          <a:solidFill>
            <a:srgbClr val="B9C4C1"/>
          </a:solidFill>
          <a:ln w="12700">
            <a:solidFill>
              <a:srgbClr val="B9C4C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600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029968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fita codificante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313432" y="1920240"/>
            <a:ext cx="283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F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578608" y="1463040"/>
            <a:ext cx="1874520" cy="1463040"/>
          </a:xfrm>
          <a:prstGeom prst="roundRect">
            <a:avLst>
              <a:gd name="adj" fmla="val 6250"/>
            </a:avLst>
          </a:prstGeom>
          <a:solidFill>
            <a:srgbClr val="0B3D3A"/>
          </a:solidFill>
          <a:ln w="12700">
            <a:solidFill>
              <a:srgbClr val="0B3D3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715768" y="1600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BioCompiler 1.0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715768" y="2029968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→ pré-mRNA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434840" y="1920240"/>
            <a:ext cx="283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F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4700016" y="1463040"/>
            <a:ext cx="1874520" cy="1463040"/>
          </a:xfrm>
          <a:prstGeom prst="roundRect">
            <a:avLst>
              <a:gd name="adj" fmla="val 6250"/>
            </a:avLst>
          </a:prstGeom>
          <a:solidFill>
            <a:srgbClr val="CFE6DF"/>
          </a:solidFill>
          <a:ln w="12700">
            <a:solidFill>
              <a:srgbClr val="CFE6D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37176" y="1600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BioCompiler 2.0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837176" y="2029968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pré-mRNA → mRNA maduro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(splicing, CAP 5', poli-A)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556248" y="1920240"/>
            <a:ext cx="283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F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6821424" y="1463040"/>
            <a:ext cx="1874520" cy="1463040"/>
          </a:xfrm>
          <a:prstGeom prst="roundRect">
            <a:avLst>
              <a:gd name="adj" fmla="val 6250"/>
            </a:avLst>
          </a:prstGeom>
          <a:solidFill>
            <a:srgbClr val="CFE6DF"/>
          </a:solidFill>
          <a:ln w="12700">
            <a:solidFill>
              <a:srgbClr val="CFE6D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58584" y="1600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Sr. Ribossomo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958584" y="2029968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mRNA → proteína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(tradução)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578608" y="30175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trabalho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42900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E6F2EF"/>
          </a:solidFill>
          <a:ln w="12700">
            <a:solidFill>
              <a:srgbClr val="E6F2E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35204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 da Fase I. </a:t>
            </a:r>
            <a:pPr indent="0" marL="0">
              <a:buNone/>
            </a:pPr>
            <a:r>
              <a:rPr lang="en-US" sz="13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1.0 termina no pré-mRNA: não faz maturação do RNA nem tradução. A meta é entregar um pré-mRNA válido e confiável para o 2.0 processar. A gramática usada é didática: representa conceitos reais da expressão gênica sem reproduzir toda a complexidade biológica.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BioCompiler 1.0  ·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Pensado como um compilador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651760" cy="2331720"/>
          </a:xfrm>
          <a:prstGeom prst="roundRect">
            <a:avLst>
              <a:gd name="adj" fmla="val 3137"/>
            </a:avLst>
          </a:prstGeom>
          <a:solidFill>
            <a:srgbClr val="E6F2EF"/>
          </a:solidFill>
          <a:ln w="12700">
            <a:solidFill>
              <a:srgbClr val="E6F2E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17320"/>
            <a:ext cx="384048" cy="384048"/>
          </a:xfrm>
          <a:prstGeom prst="ellipse">
            <a:avLst/>
          </a:prstGeom>
          <a:solidFill>
            <a:srgbClr val="0B3D3A"/>
          </a:solidFill>
          <a:ln w="12700">
            <a:solidFill>
              <a:srgbClr val="0B3D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4173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léxica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9659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Alfabeto do DNA: apenas A, T, C e G. Qualquer outro símbolo é um erro léxico.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017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BUG - base inválida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234440"/>
            <a:ext cx="2651760" cy="2331720"/>
          </a:xfrm>
          <a:prstGeom prst="roundRect">
            <a:avLst>
              <a:gd name="adj" fmla="val 3137"/>
            </a:avLst>
          </a:prstGeom>
          <a:solidFill>
            <a:srgbClr val="E6F2EF"/>
          </a:solidFill>
          <a:ln w="12700">
            <a:solidFill>
              <a:srgbClr val="E6F2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9000" y="1417320"/>
            <a:ext cx="384048" cy="384048"/>
          </a:xfrm>
          <a:prstGeom prst="ellipse">
            <a:avLst/>
          </a:prstGeom>
          <a:solidFill>
            <a:srgbClr val="0B3D3A"/>
          </a:solidFill>
          <a:ln w="12700">
            <a:solidFill>
              <a:srgbClr val="0B3D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2900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931920" y="14173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sintática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19659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gramática de uma região codificante: START, trincas de códons, STOP em fase.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3017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ausente · frameshift · STOP ausente · nonsense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1234440"/>
            <a:ext cx="2651760" cy="2331720"/>
          </a:xfrm>
          <a:prstGeom prst="roundRect">
            <a:avLst>
              <a:gd name="adj" fmla="val 3137"/>
            </a:avLst>
          </a:prstGeom>
          <a:solidFill>
            <a:srgbClr val="E6F2EF"/>
          </a:solidFill>
          <a:ln w="12700">
            <a:solidFill>
              <a:srgbClr val="E6F2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1417320"/>
            <a:ext cx="384048" cy="384048"/>
          </a:xfrm>
          <a:prstGeom prst="ellipse">
            <a:avLst/>
          </a:prstGeom>
          <a:solidFill>
            <a:srgbClr val="0B3D3A"/>
          </a:solidFill>
          <a:ln w="12700">
            <a:solidFill>
              <a:srgbClr val="0B3D3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720840" y="14173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Geração de código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19659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sequência é válida, o "código alvo" é o pré-mRNA: cada T vira U.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3017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CORRETO + pré-mRNA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37947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3D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ATG  ...  TAA / TAG / TGA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Região codificante válida segundo a convenção didática da atividade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BioCompiler 1.0  ·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e saída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77640" cy="3383280"/>
          </a:xfrm>
          <a:prstGeom prst="roundRect">
            <a:avLst>
              <a:gd name="adj" fmla="val 2162"/>
            </a:avLst>
          </a:prstGeom>
          <a:solidFill>
            <a:srgbClr val="E6F2EF"/>
          </a:solidFill>
          <a:ln w="12700">
            <a:solidFill>
              <a:srgbClr val="E6F2E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25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3736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 texto (.txt), uma sequência por linha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Somente A, T, C, G maiúsculos, sem separadores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Processamento em lote, na ordem do arquivo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assumir de antemão qual caso é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154680"/>
            <a:ext cx="3566160" cy="12801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entrada.txt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CCCATGGCTAAACCGTAA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GGGATGCCCGGGTAG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TTTATGAAACCCGGGTGA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09160" y="1188720"/>
            <a:ext cx="3977640" cy="3383280"/>
          </a:xfrm>
          <a:prstGeom prst="roundRect">
            <a:avLst>
              <a:gd name="adj" fmla="val 2162"/>
            </a:avLst>
          </a:prstGeom>
          <a:solidFill>
            <a:srgbClr val="E6F2EF"/>
          </a:solidFill>
          <a:ln w="12700">
            <a:solidFill>
              <a:srgbClr val="E6F2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37760" y="1325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17373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tela: relatório detalhado por entrada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2011680"/>
            <a:ext cx="3566160" cy="1417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ENTRADA: 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STATUS: CORRETO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Bases: OK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START: ATG - OK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Quadro de leitura: OK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STOP: TAA - OK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Transcrição: OK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pré-mRNA: AUGGCUAAACCGUAA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3520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arquivo: resultados.txt, um registro por linha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3794760"/>
            <a:ext cx="356616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linha;status;resultado;pre_mRNA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1;OK;CORRETO;AUGGCUAAACCGUAA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2;ERRO;BUG - base inválida;NÃO GERADO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BioCompiler 1.0  ·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região codificante é identificada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789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linha 1 do arquivo de entrada da especificação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B9C4C1"/>
          </a:solidFill>
          <a:ln w="12700">
            <a:solidFill>
              <a:srgbClr val="B9C4C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71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320" dirty="0"/>
          </a:p>
        </p:txBody>
      </p:sp>
      <p:sp>
        <p:nvSpPr>
          <p:cNvPr id="6" name="Shape 4"/>
          <p:cNvSpPr/>
          <p:nvPr/>
        </p:nvSpPr>
        <p:spPr>
          <a:xfrm>
            <a:off x="907816" y="1371600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B9C4C1"/>
          </a:solidFill>
          <a:ln w="12700">
            <a:solidFill>
              <a:srgbClr val="B9C4C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07816" y="1371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1358433" y="1371600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B9C4C1"/>
          </a:solidFill>
          <a:ln w="12700">
            <a:solidFill>
              <a:srgbClr val="B9C4C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58433" y="1371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1809049" y="1371600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809049" y="1371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2259665" y="1371600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259665" y="1371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2710282" y="1371600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710282" y="1371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1320" dirty="0"/>
          </a:p>
        </p:txBody>
      </p:sp>
      <p:sp>
        <p:nvSpPr>
          <p:cNvPr id="16" name="Shape 14"/>
          <p:cNvSpPr/>
          <p:nvPr/>
        </p:nvSpPr>
        <p:spPr>
          <a:xfrm>
            <a:off x="3160898" y="1371600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160898" y="1371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1320" dirty="0"/>
          </a:p>
        </p:txBody>
      </p:sp>
      <p:sp>
        <p:nvSpPr>
          <p:cNvPr id="18" name="Shape 16"/>
          <p:cNvSpPr/>
          <p:nvPr/>
        </p:nvSpPr>
        <p:spPr>
          <a:xfrm>
            <a:off x="3611514" y="1371600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611514" y="1371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320" dirty="0"/>
          </a:p>
        </p:txBody>
      </p:sp>
      <p:sp>
        <p:nvSpPr>
          <p:cNvPr id="20" name="Shape 18"/>
          <p:cNvSpPr/>
          <p:nvPr/>
        </p:nvSpPr>
        <p:spPr>
          <a:xfrm>
            <a:off x="4062131" y="1371600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062131" y="1371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1320" dirty="0"/>
          </a:p>
        </p:txBody>
      </p:sp>
      <p:sp>
        <p:nvSpPr>
          <p:cNvPr id="22" name="Shape 20"/>
          <p:cNvSpPr/>
          <p:nvPr/>
        </p:nvSpPr>
        <p:spPr>
          <a:xfrm>
            <a:off x="4512747" y="1371600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12747" y="1371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320" dirty="0"/>
          </a:p>
        </p:txBody>
      </p:sp>
      <p:sp>
        <p:nvSpPr>
          <p:cNvPr id="24" name="Shape 22"/>
          <p:cNvSpPr/>
          <p:nvPr/>
        </p:nvSpPr>
        <p:spPr>
          <a:xfrm>
            <a:off x="4963363" y="1371600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963363" y="1371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320" dirty="0"/>
          </a:p>
        </p:txBody>
      </p:sp>
      <p:sp>
        <p:nvSpPr>
          <p:cNvPr id="26" name="Shape 24"/>
          <p:cNvSpPr/>
          <p:nvPr/>
        </p:nvSpPr>
        <p:spPr>
          <a:xfrm>
            <a:off x="5413980" y="1371600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13980" y="1371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320" dirty="0"/>
          </a:p>
        </p:txBody>
      </p:sp>
      <p:sp>
        <p:nvSpPr>
          <p:cNvPr id="28" name="Shape 26"/>
          <p:cNvSpPr/>
          <p:nvPr/>
        </p:nvSpPr>
        <p:spPr>
          <a:xfrm>
            <a:off x="5864596" y="1371600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864596" y="1371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320" dirty="0"/>
          </a:p>
        </p:txBody>
      </p:sp>
      <p:sp>
        <p:nvSpPr>
          <p:cNvPr id="30" name="Shape 28"/>
          <p:cNvSpPr/>
          <p:nvPr/>
        </p:nvSpPr>
        <p:spPr>
          <a:xfrm>
            <a:off x="6315212" y="1371600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315212" y="1371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320" dirty="0"/>
          </a:p>
        </p:txBody>
      </p:sp>
      <p:sp>
        <p:nvSpPr>
          <p:cNvPr id="32" name="Shape 30"/>
          <p:cNvSpPr/>
          <p:nvPr/>
        </p:nvSpPr>
        <p:spPr>
          <a:xfrm>
            <a:off x="6765828" y="1371600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765828" y="1371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1320" dirty="0"/>
          </a:p>
        </p:txBody>
      </p:sp>
      <p:sp>
        <p:nvSpPr>
          <p:cNvPr id="34" name="Shape 32"/>
          <p:cNvSpPr/>
          <p:nvPr/>
        </p:nvSpPr>
        <p:spPr>
          <a:xfrm>
            <a:off x="7216445" y="1371600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216445" y="1371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1320" dirty="0"/>
          </a:p>
        </p:txBody>
      </p:sp>
      <p:sp>
        <p:nvSpPr>
          <p:cNvPr id="36" name="Shape 34"/>
          <p:cNvSpPr/>
          <p:nvPr/>
        </p:nvSpPr>
        <p:spPr>
          <a:xfrm>
            <a:off x="7667061" y="1371600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667061" y="1371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320" dirty="0"/>
          </a:p>
        </p:txBody>
      </p:sp>
      <p:sp>
        <p:nvSpPr>
          <p:cNvPr id="38" name="Shape 36"/>
          <p:cNvSpPr/>
          <p:nvPr/>
        </p:nvSpPr>
        <p:spPr>
          <a:xfrm>
            <a:off x="8117677" y="1371600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117677" y="1371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320" dirty="0"/>
          </a:p>
        </p:txBody>
      </p:sp>
      <p:sp>
        <p:nvSpPr>
          <p:cNvPr id="40" name="Shape 38"/>
          <p:cNvSpPr/>
          <p:nvPr/>
        </p:nvSpPr>
        <p:spPr>
          <a:xfrm>
            <a:off x="457200" y="2194560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B9C4C1"/>
          </a:solidFill>
          <a:ln w="12700">
            <a:solidFill>
              <a:srgbClr val="B9C4C1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60120" y="2148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antes do START  </a:t>
            </a:r>
            <a:pPr indent="0" marL="0">
              <a:buNone/>
            </a:pPr>
            <a:r>
              <a:rPr lang="en-US" sz="13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permitidas, fora da região codificante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57200" y="2743200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60120" y="2697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 </a:t>
            </a:r>
            <a:pPr indent="0" marL="0">
              <a:buNone/>
            </a:pPr>
            <a:r>
              <a:rPr lang="en-US" sz="13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 ATG da sequência, em qualquer posição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457200" y="3291840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960120" y="3246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Códons internos  </a:t>
            </a:r>
            <a:pPr indent="0" marL="0">
              <a:buNone/>
            </a:pPr>
            <a:r>
              <a:rPr lang="en-US" sz="13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em trincas a partir do START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457200" y="3840480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960120" y="37947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 </a:t>
            </a:r>
            <a:pPr indent="0" marL="0">
              <a:buNone/>
            </a:pPr>
            <a:r>
              <a:rPr lang="en-US" sz="13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 TAA, TAG ou TGA em fase; deve encerrar a linha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5943600" y="2148840"/>
            <a:ext cx="2743200" cy="2148840"/>
          </a:xfrm>
          <a:prstGeom prst="roundRect">
            <a:avLst>
              <a:gd name="adj" fmla="val 3404"/>
            </a:avLst>
          </a:prstGeom>
          <a:solidFill>
            <a:srgbClr val="0B3D3A"/>
          </a:solidFill>
          <a:ln w="12700">
            <a:solidFill>
              <a:srgbClr val="0B3D3A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126480" y="2286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Transcrição</a:t>
            </a:r>
            <a:endParaRPr lang="en-US" sz="1500" dirty="0"/>
          </a:p>
        </p:txBody>
      </p:sp>
      <p:sp>
        <p:nvSpPr>
          <p:cNvPr id="50" name="Text 48"/>
          <p:cNvSpPr txBox="1"/>
          <p:nvPr/>
        </p:nvSpPr>
        <p:spPr>
          <a:xfrm>
            <a:off x="6126480" y="26517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F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quando a sequência é válida. Cada timina vira uracila, ordem preservada.</a:t>
            </a:r>
            <a:endParaRPr lang="en-US" sz="1150" dirty="0"/>
          </a:p>
        </p:txBody>
      </p:sp>
      <p:sp>
        <p:nvSpPr>
          <p:cNvPr id="51" name="Text 49"/>
          <p:cNvSpPr txBox="1"/>
          <p:nvPr/>
        </p:nvSpPr>
        <p:spPr>
          <a:xfrm>
            <a:off x="6126480" y="329184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ATGGCTAAACCGTAA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pré-mRNA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AUGGCUAAACCGUAA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BioCompiler 1.0  ·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seis casos que o programa reconhece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868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434840" y="868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Situação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720840" y="8686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esperada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8229600" cy="566928"/>
          </a:xfrm>
          <a:prstGeom prst="rect">
            <a:avLst/>
          </a:prstGeom>
          <a:solidFill>
            <a:srgbClr val="E6F2EF"/>
          </a:solidFill>
          <a:ln w="12700">
            <a:solidFill>
              <a:srgbClr val="E6F2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298448"/>
            <a:ext cx="347472" cy="347472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298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51560" y="1307592"/>
            <a:ext cx="155448" cy="155448"/>
          </a:xfrm>
          <a:prstGeom prst="roundRect">
            <a:avLst>
              <a:gd name="adj" fmla="val 18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1307592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510" dirty="0"/>
          </a:p>
        </p:txBody>
      </p:sp>
      <p:sp>
        <p:nvSpPr>
          <p:cNvPr id="12" name="Shape 10"/>
          <p:cNvSpPr/>
          <p:nvPr/>
        </p:nvSpPr>
        <p:spPr>
          <a:xfrm>
            <a:off x="1225662" y="1307592"/>
            <a:ext cx="155448" cy="155448"/>
          </a:xfrm>
          <a:prstGeom prst="roundRect">
            <a:avLst>
              <a:gd name="adj" fmla="val 18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225662" y="1307592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510" dirty="0"/>
          </a:p>
        </p:txBody>
      </p:sp>
      <p:sp>
        <p:nvSpPr>
          <p:cNvPr id="14" name="Shape 12"/>
          <p:cNvSpPr/>
          <p:nvPr/>
        </p:nvSpPr>
        <p:spPr>
          <a:xfrm>
            <a:off x="1399764" y="1307592"/>
            <a:ext cx="155448" cy="155448"/>
          </a:xfrm>
          <a:prstGeom prst="roundRect">
            <a:avLst>
              <a:gd name="adj" fmla="val 18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399764" y="1307592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510" dirty="0"/>
          </a:p>
        </p:txBody>
      </p:sp>
      <p:sp>
        <p:nvSpPr>
          <p:cNvPr id="16" name="Shape 14"/>
          <p:cNvSpPr/>
          <p:nvPr/>
        </p:nvSpPr>
        <p:spPr>
          <a:xfrm>
            <a:off x="1573865" y="1307592"/>
            <a:ext cx="155448" cy="155448"/>
          </a:xfrm>
          <a:prstGeom prst="roundRect">
            <a:avLst>
              <a:gd name="adj" fmla="val 18000"/>
            </a:avLst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573865" y="1307592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510" dirty="0"/>
          </a:p>
        </p:txBody>
      </p:sp>
      <p:sp>
        <p:nvSpPr>
          <p:cNvPr id="18" name="Shape 16"/>
          <p:cNvSpPr/>
          <p:nvPr/>
        </p:nvSpPr>
        <p:spPr>
          <a:xfrm>
            <a:off x="1747967" y="1307592"/>
            <a:ext cx="155448" cy="155448"/>
          </a:xfrm>
          <a:prstGeom prst="roundRect">
            <a:avLst>
              <a:gd name="adj" fmla="val 18000"/>
            </a:avLst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747967" y="1307592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510" dirty="0"/>
          </a:p>
        </p:txBody>
      </p:sp>
      <p:sp>
        <p:nvSpPr>
          <p:cNvPr id="20" name="Shape 18"/>
          <p:cNvSpPr/>
          <p:nvPr/>
        </p:nvSpPr>
        <p:spPr>
          <a:xfrm>
            <a:off x="1922069" y="1307592"/>
            <a:ext cx="155448" cy="155448"/>
          </a:xfrm>
          <a:prstGeom prst="roundRect">
            <a:avLst>
              <a:gd name="adj" fmla="val 18000"/>
            </a:avLst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922069" y="1307592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510" dirty="0"/>
          </a:p>
        </p:txBody>
      </p:sp>
      <p:sp>
        <p:nvSpPr>
          <p:cNvPr id="22" name="Shape 20"/>
          <p:cNvSpPr/>
          <p:nvPr/>
        </p:nvSpPr>
        <p:spPr>
          <a:xfrm>
            <a:off x="2096171" y="1307592"/>
            <a:ext cx="155448" cy="155448"/>
          </a:xfrm>
          <a:prstGeom prst="roundRect">
            <a:avLst>
              <a:gd name="adj" fmla="val 18000"/>
            </a:avLst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096171" y="1307592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510" dirty="0"/>
          </a:p>
        </p:txBody>
      </p:sp>
      <p:sp>
        <p:nvSpPr>
          <p:cNvPr id="24" name="Shape 22"/>
          <p:cNvSpPr/>
          <p:nvPr/>
        </p:nvSpPr>
        <p:spPr>
          <a:xfrm>
            <a:off x="2270272" y="1307592"/>
            <a:ext cx="155448" cy="155448"/>
          </a:xfrm>
          <a:prstGeom prst="roundRect">
            <a:avLst>
              <a:gd name="adj" fmla="val 18000"/>
            </a:avLst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270272" y="1307592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510" dirty="0"/>
          </a:p>
        </p:txBody>
      </p:sp>
      <p:sp>
        <p:nvSpPr>
          <p:cNvPr id="26" name="Shape 24"/>
          <p:cNvSpPr/>
          <p:nvPr/>
        </p:nvSpPr>
        <p:spPr>
          <a:xfrm>
            <a:off x="2444374" y="1307592"/>
            <a:ext cx="155448" cy="155448"/>
          </a:xfrm>
          <a:prstGeom prst="roundRect">
            <a:avLst>
              <a:gd name="adj" fmla="val 18000"/>
            </a:avLst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444374" y="1307592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510" dirty="0"/>
          </a:p>
        </p:txBody>
      </p:sp>
      <p:sp>
        <p:nvSpPr>
          <p:cNvPr id="28" name="Shape 26"/>
          <p:cNvSpPr/>
          <p:nvPr/>
        </p:nvSpPr>
        <p:spPr>
          <a:xfrm>
            <a:off x="2618476" y="1307592"/>
            <a:ext cx="155448" cy="155448"/>
          </a:xfrm>
          <a:prstGeom prst="roundRect">
            <a:avLst>
              <a:gd name="adj" fmla="val 18000"/>
            </a:avLst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618476" y="1307592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510" dirty="0"/>
          </a:p>
        </p:txBody>
      </p:sp>
      <p:sp>
        <p:nvSpPr>
          <p:cNvPr id="30" name="Shape 28"/>
          <p:cNvSpPr/>
          <p:nvPr/>
        </p:nvSpPr>
        <p:spPr>
          <a:xfrm>
            <a:off x="2792578" y="1307592"/>
            <a:ext cx="155448" cy="155448"/>
          </a:xfrm>
          <a:prstGeom prst="roundRect">
            <a:avLst>
              <a:gd name="adj" fmla="val 18000"/>
            </a:avLst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792578" y="1307592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510" dirty="0"/>
          </a:p>
        </p:txBody>
      </p:sp>
      <p:sp>
        <p:nvSpPr>
          <p:cNvPr id="32" name="Shape 30"/>
          <p:cNvSpPr/>
          <p:nvPr/>
        </p:nvSpPr>
        <p:spPr>
          <a:xfrm>
            <a:off x="2966679" y="1307592"/>
            <a:ext cx="155448" cy="155448"/>
          </a:xfrm>
          <a:prstGeom prst="roundRect">
            <a:avLst>
              <a:gd name="adj" fmla="val 18000"/>
            </a:avLst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966679" y="1307592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510" dirty="0"/>
          </a:p>
        </p:txBody>
      </p:sp>
      <p:sp>
        <p:nvSpPr>
          <p:cNvPr id="34" name="Shape 32"/>
          <p:cNvSpPr/>
          <p:nvPr/>
        </p:nvSpPr>
        <p:spPr>
          <a:xfrm>
            <a:off x="3140781" y="1307592"/>
            <a:ext cx="155448" cy="155448"/>
          </a:xfrm>
          <a:prstGeom prst="roundRect">
            <a:avLst>
              <a:gd name="adj" fmla="val 18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140781" y="1307592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510" dirty="0"/>
          </a:p>
        </p:txBody>
      </p:sp>
      <p:sp>
        <p:nvSpPr>
          <p:cNvPr id="36" name="Shape 34"/>
          <p:cNvSpPr/>
          <p:nvPr/>
        </p:nvSpPr>
        <p:spPr>
          <a:xfrm>
            <a:off x="3314883" y="1307592"/>
            <a:ext cx="155448" cy="155448"/>
          </a:xfrm>
          <a:prstGeom prst="roundRect">
            <a:avLst>
              <a:gd name="adj" fmla="val 18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314883" y="1307592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510" dirty="0"/>
          </a:p>
        </p:txBody>
      </p:sp>
      <p:sp>
        <p:nvSpPr>
          <p:cNvPr id="38" name="Shape 36"/>
          <p:cNvSpPr/>
          <p:nvPr/>
        </p:nvSpPr>
        <p:spPr>
          <a:xfrm>
            <a:off x="3488985" y="1307592"/>
            <a:ext cx="155448" cy="155448"/>
          </a:xfrm>
          <a:prstGeom prst="roundRect">
            <a:avLst>
              <a:gd name="adj" fmla="val 18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488985" y="1307592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510" dirty="0"/>
          </a:p>
        </p:txBody>
      </p:sp>
      <p:sp>
        <p:nvSpPr>
          <p:cNvPr id="40" name="Text 38"/>
          <p:cNvSpPr txBox="1"/>
          <p:nvPr/>
        </p:nvSpPr>
        <p:spPr>
          <a:xfrm>
            <a:off x="4434840" y="118872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Sequência válida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6720840" y="118872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8B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CORRETO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48640" y="1865376"/>
            <a:ext cx="347472" cy="347472"/>
          </a:xfrm>
          <a:prstGeom prst="ellipse">
            <a:avLst/>
          </a:prstGeom>
          <a:solidFill>
            <a:srgbClr val="0B3D3A"/>
          </a:solidFill>
          <a:ln w="12700">
            <a:solidFill>
              <a:srgbClr val="0B3D3A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48640" y="18653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1051560" y="1874520"/>
            <a:ext cx="155448" cy="155448"/>
          </a:xfrm>
          <a:prstGeom prst="roundRect">
            <a:avLst>
              <a:gd name="adj" fmla="val 18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1051560" y="1874520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510" dirty="0"/>
          </a:p>
        </p:txBody>
      </p:sp>
      <p:sp>
        <p:nvSpPr>
          <p:cNvPr id="46" name="Shape 44"/>
          <p:cNvSpPr/>
          <p:nvPr/>
        </p:nvSpPr>
        <p:spPr>
          <a:xfrm>
            <a:off x="1225662" y="1874520"/>
            <a:ext cx="155448" cy="155448"/>
          </a:xfrm>
          <a:prstGeom prst="roundRect">
            <a:avLst>
              <a:gd name="adj" fmla="val 18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1225662" y="1874520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510" dirty="0"/>
          </a:p>
        </p:txBody>
      </p:sp>
      <p:sp>
        <p:nvSpPr>
          <p:cNvPr id="48" name="Shape 46"/>
          <p:cNvSpPr/>
          <p:nvPr/>
        </p:nvSpPr>
        <p:spPr>
          <a:xfrm>
            <a:off x="1399764" y="1874520"/>
            <a:ext cx="155448" cy="155448"/>
          </a:xfrm>
          <a:prstGeom prst="roundRect">
            <a:avLst>
              <a:gd name="adj" fmla="val 18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1399764" y="1874520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510" dirty="0"/>
          </a:p>
        </p:txBody>
      </p:sp>
      <p:sp>
        <p:nvSpPr>
          <p:cNvPr id="50" name="Shape 48"/>
          <p:cNvSpPr/>
          <p:nvPr/>
        </p:nvSpPr>
        <p:spPr>
          <a:xfrm>
            <a:off x="1573865" y="1874520"/>
            <a:ext cx="155448" cy="155448"/>
          </a:xfrm>
          <a:prstGeom prst="roundRect">
            <a:avLst>
              <a:gd name="adj" fmla="val 18000"/>
            </a:avLst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573865" y="1874520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510" dirty="0"/>
          </a:p>
        </p:txBody>
      </p:sp>
      <p:sp>
        <p:nvSpPr>
          <p:cNvPr id="52" name="Shape 50"/>
          <p:cNvSpPr/>
          <p:nvPr/>
        </p:nvSpPr>
        <p:spPr>
          <a:xfrm>
            <a:off x="1747967" y="1874520"/>
            <a:ext cx="155448" cy="155448"/>
          </a:xfrm>
          <a:prstGeom prst="roundRect">
            <a:avLst>
              <a:gd name="adj" fmla="val 18000"/>
            </a:avLst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1747967" y="1874520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510" dirty="0"/>
          </a:p>
        </p:txBody>
      </p:sp>
      <p:sp>
        <p:nvSpPr>
          <p:cNvPr id="54" name="Shape 52"/>
          <p:cNvSpPr/>
          <p:nvPr/>
        </p:nvSpPr>
        <p:spPr>
          <a:xfrm>
            <a:off x="1922069" y="1874520"/>
            <a:ext cx="155448" cy="155448"/>
          </a:xfrm>
          <a:prstGeom prst="roundRect">
            <a:avLst>
              <a:gd name="adj" fmla="val 18000"/>
            </a:avLst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1922069" y="1874520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510" dirty="0"/>
          </a:p>
        </p:txBody>
      </p:sp>
      <p:sp>
        <p:nvSpPr>
          <p:cNvPr id="56" name="Shape 54"/>
          <p:cNvSpPr/>
          <p:nvPr/>
        </p:nvSpPr>
        <p:spPr>
          <a:xfrm>
            <a:off x="2096171" y="1874520"/>
            <a:ext cx="155448" cy="155448"/>
          </a:xfrm>
          <a:prstGeom prst="roundRect">
            <a:avLst>
              <a:gd name="adj" fmla="val 18000"/>
            </a:avLst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2096171" y="1874520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endParaRPr lang="en-US" sz="510" dirty="0"/>
          </a:p>
        </p:txBody>
      </p:sp>
      <p:sp>
        <p:nvSpPr>
          <p:cNvPr id="58" name="Shape 56"/>
          <p:cNvSpPr/>
          <p:nvPr/>
        </p:nvSpPr>
        <p:spPr>
          <a:xfrm>
            <a:off x="2270272" y="1874520"/>
            <a:ext cx="155448" cy="155448"/>
          </a:xfrm>
          <a:prstGeom prst="roundRect">
            <a:avLst>
              <a:gd name="adj" fmla="val 18000"/>
            </a:avLst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2270272" y="1874520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510" dirty="0"/>
          </a:p>
        </p:txBody>
      </p:sp>
      <p:sp>
        <p:nvSpPr>
          <p:cNvPr id="60" name="Shape 58"/>
          <p:cNvSpPr/>
          <p:nvPr/>
        </p:nvSpPr>
        <p:spPr>
          <a:xfrm>
            <a:off x="2444374" y="1874520"/>
            <a:ext cx="155448" cy="155448"/>
          </a:xfrm>
          <a:prstGeom prst="roundRect">
            <a:avLst>
              <a:gd name="adj" fmla="val 18000"/>
            </a:avLst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2444374" y="1874520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510" dirty="0"/>
          </a:p>
        </p:txBody>
      </p:sp>
      <p:sp>
        <p:nvSpPr>
          <p:cNvPr id="62" name="Shape 60"/>
          <p:cNvSpPr/>
          <p:nvPr/>
        </p:nvSpPr>
        <p:spPr>
          <a:xfrm>
            <a:off x="2618476" y="1874520"/>
            <a:ext cx="155448" cy="155448"/>
          </a:xfrm>
          <a:prstGeom prst="roundRect">
            <a:avLst>
              <a:gd name="adj" fmla="val 18000"/>
            </a:avLst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2618476" y="1874520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510" dirty="0"/>
          </a:p>
        </p:txBody>
      </p:sp>
      <p:sp>
        <p:nvSpPr>
          <p:cNvPr id="64" name="Shape 62"/>
          <p:cNvSpPr/>
          <p:nvPr/>
        </p:nvSpPr>
        <p:spPr>
          <a:xfrm>
            <a:off x="2792578" y="1874520"/>
            <a:ext cx="155448" cy="155448"/>
          </a:xfrm>
          <a:prstGeom prst="roundRect">
            <a:avLst>
              <a:gd name="adj" fmla="val 18000"/>
            </a:avLst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2792578" y="1874520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510" dirty="0"/>
          </a:p>
        </p:txBody>
      </p:sp>
      <p:sp>
        <p:nvSpPr>
          <p:cNvPr id="66" name="Shape 64"/>
          <p:cNvSpPr/>
          <p:nvPr/>
        </p:nvSpPr>
        <p:spPr>
          <a:xfrm>
            <a:off x="2966679" y="1874520"/>
            <a:ext cx="155448" cy="155448"/>
          </a:xfrm>
          <a:prstGeom prst="roundRect">
            <a:avLst>
              <a:gd name="adj" fmla="val 18000"/>
            </a:avLst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2966679" y="1874520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510" dirty="0"/>
          </a:p>
        </p:txBody>
      </p:sp>
      <p:sp>
        <p:nvSpPr>
          <p:cNvPr id="68" name="Shape 66"/>
          <p:cNvSpPr/>
          <p:nvPr/>
        </p:nvSpPr>
        <p:spPr>
          <a:xfrm>
            <a:off x="3140781" y="1874520"/>
            <a:ext cx="155448" cy="155448"/>
          </a:xfrm>
          <a:prstGeom prst="roundRect">
            <a:avLst>
              <a:gd name="adj" fmla="val 18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3140781" y="1874520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510" dirty="0"/>
          </a:p>
        </p:txBody>
      </p:sp>
      <p:sp>
        <p:nvSpPr>
          <p:cNvPr id="70" name="Shape 68"/>
          <p:cNvSpPr/>
          <p:nvPr/>
        </p:nvSpPr>
        <p:spPr>
          <a:xfrm>
            <a:off x="3314883" y="1874520"/>
            <a:ext cx="155448" cy="155448"/>
          </a:xfrm>
          <a:prstGeom prst="roundRect">
            <a:avLst>
              <a:gd name="adj" fmla="val 18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3314883" y="1874520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510" dirty="0"/>
          </a:p>
        </p:txBody>
      </p:sp>
      <p:sp>
        <p:nvSpPr>
          <p:cNvPr id="72" name="Shape 70"/>
          <p:cNvSpPr/>
          <p:nvPr/>
        </p:nvSpPr>
        <p:spPr>
          <a:xfrm>
            <a:off x="3488985" y="1874520"/>
            <a:ext cx="155448" cy="155448"/>
          </a:xfrm>
          <a:prstGeom prst="roundRect">
            <a:avLst>
              <a:gd name="adj" fmla="val 18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3488985" y="1874520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510" dirty="0"/>
          </a:p>
        </p:txBody>
      </p:sp>
      <p:sp>
        <p:nvSpPr>
          <p:cNvPr id="74" name="Text 72"/>
          <p:cNvSpPr txBox="1"/>
          <p:nvPr/>
        </p:nvSpPr>
        <p:spPr>
          <a:xfrm>
            <a:off x="4434840" y="175564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Caractere fora de A/T/C/G</a:t>
            </a:r>
            <a:endParaRPr lang="en-US" sz="1100" dirty="0"/>
          </a:p>
        </p:txBody>
      </p:sp>
      <p:sp>
        <p:nvSpPr>
          <p:cNvPr id="75" name="Text 73"/>
          <p:cNvSpPr txBox="1"/>
          <p:nvPr/>
        </p:nvSpPr>
        <p:spPr>
          <a:xfrm>
            <a:off x="6720840" y="1755648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BUG - base inválida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457200" y="2322576"/>
            <a:ext cx="8229600" cy="566928"/>
          </a:xfrm>
          <a:prstGeom prst="rect">
            <a:avLst/>
          </a:prstGeom>
          <a:solidFill>
            <a:srgbClr val="E6F2EF"/>
          </a:solidFill>
          <a:ln w="12700">
            <a:solidFill>
              <a:srgbClr val="E6F2E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48640" y="2432304"/>
            <a:ext cx="347472" cy="347472"/>
          </a:xfrm>
          <a:prstGeom prst="ellipse">
            <a:avLst/>
          </a:prstGeom>
          <a:solidFill>
            <a:srgbClr val="0B3D3A"/>
          </a:solidFill>
          <a:ln w="12700">
            <a:solidFill>
              <a:srgbClr val="0B3D3A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548640" y="24323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79" name="Shape 77"/>
          <p:cNvSpPr/>
          <p:nvPr/>
        </p:nvSpPr>
        <p:spPr>
          <a:xfrm>
            <a:off x="1051560" y="2441448"/>
            <a:ext cx="155448" cy="155448"/>
          </a:xfrm>
          <a:prstGeom prst="roundRect">
            <a:avLst>
              <a:gd name="adj" fmla="val 18000"/>
            </a:avLst>
          </a:prstGeom>
          <a:solidFill>
            <a:srgbClr val="B9C4C1"/>
          </a:solidFill>
          <a:ln w="12700">
            <a:solidFill>
              <a:srgbClr val="B9C4C1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1051560" y="2441448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510" dirty="0"/>
          </a:p>
        </p:txBody>
      </p:sp>
      <p:sp>
        <p:nvSpPr>
          <p:cNvPr id="81" name="Shape 79"/>
          <p:cNvSpPr/>
          <p:nvPr/>
        </p:nvSpPr>
        <p:spPr>
          <a:xfrm>
            <a:off x="1225662" y="2441448"/>
            <a:ext cx="155448" cy="155448"/>
          </a:xfrm>
          <a:prstGeom prst="roundRect">
            <a:avLst>
              <a:gd name="adj" fmla="val 18000"/>
            </a:avLst>
          </a:prstGeom>
          <a:solidFill>
            <a:srgbClr val="B9C4C1"/>
          </a:solidFill>
          <a:ln w="12700">
            <a:solidFill>
              <a:srgbClr val="B9C4C1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1225662" y="2441448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510" dirty="0"/>
          </a:p>
        </p:txBody>
      </p:sp>
      <p:sp>
        <p:nvSpPr>
          <p:cNvPr id="83" name="Shape 81"/>
          <p:cNvSpPr/>
          <p:nvPr/>
        </p:nvSpPr>
        <p:spPr>
          <a:xfrm>
            <a:off x="1399764" y="2441448"/>
            <a:ext cx="155448" cy="155448"/>
          </a:xfrm>
          <a:prstGeom prst="roundRect">
            <a:avLst>
              <a:gd name="adj" fmla="val 18000"/>
            </a:avLst>
          </a:prstGeom>
          <a:solidFill>
            <a:srgbClr val="B9C4C1"/>
          </a:solidFill>
          <a:ln w="12700">
            <a:solidFill>
              <a:srgbClr val="B9C4C1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1399764" y="2441448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510" dirty="0"/>
          </a:p>
        </p:txBody>
      </p:sp>
      <p:sp>
        <p:nvSpPr>
          <p:cNvPr id="85" name="Shape 83"/>
          <p:cNvSpPr/>
          <p:nvPr/>
        </p:nvSpPr>
        <p:spPr>
          <a:xfrm>
            <a:off x="1573865" y="2441448"/>
            <a:ext cx="155448" cy="155448"/>
          </a:xfrm>
          <a:prstGeom prst="roundRect">
            <a:avLst>
              <a:gd name="adj" fmla="val 18000"/>
            </a:avLst>
          </a:prstGeom>
          <a:solidFill>
            <a:srgbClr val="B9C4C1"/>
          </a:solidFill>
          <a:ln w="12700">
            <a:solidFill>
              <a:srgbClr val="B9C4C1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1573865" y="2441448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510" dirty="0"/>
          </a:p>
        </p:txBody>
      </p:sp>
      <p:sp>
        <p:nvSpPr>
          <p:cNvPr id="87" name="Shape 85"/>
          <p:cNvSpPr/>
          <p:nvPr/>
        </p:nvSpPr>
        <p:spPr>
          <a:xfrm>
            <a:off x="1747967" y="2441448"/>
            <a:ext cx="155448" cy="155448"/>
          </a:xfrm>
          <a:prstGeom prst="roundRect">
            <a:avLst>
              <a:gd name="adj" fmla="val 18000"/>
            </a:avLst>
          </a:prstGeom>
          <a:solidFill>
            <a:srgbClr val="B9C4C1"/>
          </a:solidFill>
          <a:ln w="12700">
            <a:solidFill>
              <a:srgbClr val="B9C4C1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1747967" y="2441448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510" dirty="0"/>
          </a:p>
        </p:txBody>
      </p:sp>
      <p:sp>
        <p:nvSpPr>
          <p:cNvPr id="89" name="Shape 87"/>
          <p:cNvSpPr/>
          <p:nvPr/>
        </p:nvSpPr>
        <p:spPr>
          <a:xfrm>
            <a:off x="1922069" y="2441448"/>
            <a:ext cx="155448" cy="155448"/>
          </a:xfrm>
          <a:prstGeom prst="roundRect">
            <a:avLst>
              <a:gd name="adj" fmla="val 18000"/>
            </a:avLst>
          </a:prstGeom>
          <a:solidFill>
            <a:srgbClr val="B9C4C1"/>
          </a:solidFill>
          <a:ln w="12700">
            <a:solidFill>
              <a:srgbClr val="B9C4C1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1922069" y="2441448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510" dirty="0"/>
          </a:p>
        </p:txBody>
      </p:sp>
      <p:sp>
        <p:nvSpPr>
          <p:cNvPr id="91" name="Shape 89"/>
          <p:cNvSpPr/>
          <p:nvPr/>
        </p:nvSpPr>
        <p:spPr>
          <a:xfrm>
            <a:off x="2096171" y="2441448"/>
            <a:ext cx="155448" cy="155448"/>
          </a:xfrm>
          <a:prstGeom prst="roundRect">
            <a:avLst>
              <a:gd name="adj" fmla="val 18000"/>
            </a:avLst>
          </a:prstGeom>
          <a:solidFill>
            <a:srgbClr val="B9C4C1"/>
          </a:solidFill>
          <a:ln w="12700">
            <a:solidFill>
              <a:srgbClr val="B9C4C1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2096171" y="2441448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510" dirty="0"/>
          </a:p>
        </p:txBody>
      </p:sp>
      <p:sp>
        <p:nvSpPr>
          <p:cNvPr id="93" name="Shape 91"/>
          <p:cNvSpPr/>
          <p:nvPr/>
        </p:nvSpPr>
        <p:spPr>
          <a:xfrm>
            <a:off x="2270272" y="2441448"/>
            <a:ext cx="155448" cy="155448"/>
          </a:xfrm>
          <a:prstGeom prst="roundRect">
            <a:avLst>
              <a:gd name="adj" fmla="val 18000"/>
            </a:avLst>
          </a:prstGeom>
          <a:solidFill>
            <a:srgbClr val="B9C4C1"/>
          </a:solidFill>
          <a:ln w="12700">
            <a:solidFill>
              <a:srgbClr val="B9C4C1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2270272" y="2441448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510" dirty="0"/>
          </a:p>
        </p:txBody>
      </p:sp>
      <p:sp>
        <p:nvSpPr>
          <p:cNvPr id="95" name="Shape 93"/>
          <p:cNvSpPr/>
          <p:nvPr/>
        </p:nvSpPr>
        <p:spPr>
          <a:xfrm>
            <a:off x="2444374" y="2441448"/>
            <a:ext cx="155448" cy="155448"/>
          </a:xfrm>
          <a:prstGeom prst="roundRect">
            <a:avLst>
              <a:gd name="adj" fmla="val 18000"/>
            </a:avLst>
          </a:prstGeom>
          <a:solidFill>
            <a:srgbClr val="B9C4C1"/>
          </a:solidFill>
          <a:ln w="12700">
            <a:solidFill>
              <a:srgbClr val="B9C4C1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2444374" y="2441448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510" dirty="0"/>
          </a:p>
        </p:txBody>
      </p:sp>
      <p:sp>
        <p:nvSpPr>
          <p:cNvPr id="97" name="Shape 95"/>
          <p:cNvSpPr/>
          <p:nvPr/>
        </p:nvSpPr>
        <p:spPr>
          <a:xfrm>
            <a:off x="2618476" y="2441448"/>
            <a:ext cx="155448" cy="155448"/>
          </a:xfrm>
          <a:prstGeom prst="roundRect">
            <a:avLst>
              <a:gd name="adj" fmla="val 18000"/>
            </a:avLst>
          </a:prstGeom>
          <a:solidFill>
            <a:srgbClr val="B9C4C1"/>
          </a:solidFill>
          <a:ln w="12700">
            <a:solidFill>
              <a:srgbClr val="B9C4C1"/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2618476" y="2441448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510" dirty="0"/>
          </a:p>
        </p:txBody>
      </p:sp>
      <p:sp>
        <p:nvSpPr>
          <p:cNvPr id="99" name="Shape 97"/>
          <p:cNvSpPr/>
          <p:nvPr/>
        </p:nvSpPr>
        <p:spPr>
          <a:xfrm>
            <a:off x="2792578" y="2441448"/>
            <a:ext cx="155448" cy="155448"/>
          </a:xfrm>
          <a:prstGeom prst="roundRect">
            <a:avLst>
              <a:gd name="adj" fmla="val 18000"/>
            </a:avLst>
          </a:prstGeom>
          <a:solidFill>
            <a:srgbClr val="B9C4C1"/>
          </a:solidFill>
          <a:ln w="12700">
            <a:solidFill>
              <a:srgbClr val="B9C4C1"/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2792578" y="2441448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510" dirty="0"/>
          </a:p>
        </p:txBody>
      </p:sp>
      <p:sp>
        <p:nvSpPr>
          <p:cNvPr id="101" name="Shape 99"/>
          <p:cNvSpPr/>
          <p:nvPr/>
        </p:nvSpPr>
        <p:spPr>
          <a:xfrm>
            <a:off x="2966679" y="2441448"/>
            <a:ext cx="155448" cy="155448"/>
          </a:xfrm>
          <a:prstGeom prst="roundRect">
            <a:avLst>
              <a:gd name="adj" fmla="val 18000"/>
            </a:avLst>
          </a:prstGeom>
          <a:solidFill>
            <a:srgbClr val="B9C4C1"/>
          </a:solidFill>
          <a:ln w="12700">
            <a:solidFill>
              <a:srgbClr val="B9C4C1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2966679" y="2441448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510" dirty="0"/>
          </a:p>
        </p:txBody>
      </p:sp>
      <p:sp>
        <p:nvSpPr>
          <p:cNvPr id="103" name="Shape 101"/>
          <p:cNvSpPr/>
          <p:nvPr/>
        </p:nvSpPr>
        <p:spPr>
          <a:xfrm>
            <a:off x="3140781" y="2441448"/>
            <a:ext cx="155448" cy="155448"/>
          </a:xfrm>
          <a:prstGeom prst="roundRect">
            <a:avLst>
              <a:gd name="adj" fmla="val 18000"/>
            </a:avLst>
          </a:prstGeom>
          <a:solidFill>
            <a:srgbClr val="B9C4C1"/>
          </a:solidFill>
          <a:ln w="12700">
            <a:solidFill>
              <a:srgbClr val="B9C4C1"/>
            </a:solidFill>
            <a:prstDash val="solid"/>
          </a:ln>
        </p:spPr>
      </p:sp>
      <p:sp>
        <p:nvSpPr>
          <p:cNvPr id="104" name="Text 102"/>
          <p:cNvSpPr txBox="1"/>
          <p:nvPr/>
        </p:nvSpPr>
        <p:spPr>
          <a:xfrm>
            <a:off x="3140781" y="2441448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510" dirty="0"/>
          </a:p>
        </p:txBody>
      </p:sp>
      <p:sp>
        <p:nvSpPr>
          <p:cNvPr id="105" name="Shape 103"/>
          <p:cNvSpPr/>
          <p:nvPr/>
        </p:nvSpPr>
        <p:spPr>
          <a:xfrm>
            <a:off x="3314883" y="2441448"/>
            <a:ext cx="155448" cy="155448"/>
          </a:xfrm>
          <a:prstGeom prst="roundRect">
            <a:avLst>
              <a:gd name="adj" fmla="val 18000"/>
            </a:avLst>
          </a:prstGeom>
          <a:solidFill>
            <a:srgbClr val="B9C4C1"/>
          </a:solidFill>
          <a:ln w="12700">
            <a:solidFill>
              <a:srgbClr val="B9C4C1"/>
            </a:solidFill>
            <a:prstDash val="solid"/>
          </a:ln>
        </p:spPr>
      </p:sp>
      <p:sp>
        <p:nvSpPr>
          <p:cNvPr id="106" name="Text 104"/>
          <p:cNvSpPr txBox="1"/>
          <p:nvPr/>
        </p:nvSpPr>
        <p:spPr>
          <a:xfrm>
            <a:off x="3314883" y="2441448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510" dirty="0"/>
          </a:p>
        </p:txBody>
      </p:sp>
      <p:sp>
        <p:nvSpPr>
          <p:cNvPr id="107" name="Shape 105"/>
          <p:cNvSpPr/>
          <p:nvPr/>
        </p:nvSpPr>
        <p:spPr>
          <a:xfrm>
            <a:off x="3488985" y="2441448"/>
            <a:ext cx="155448" cy="155448"/>
          </a:xfrm>
          <a:prstGeom prst="roundRect">
            <a:avLst>
              <a:gd name="adj" fmla="val 18000"/>
            </a:avLst>
          </a:prstGeom>
          <a:solidFill>
            <a:srgbClr val="B9C4C1"/>
          </a:solidFill>
          <a:ln w="12700">
            <a:solidFill>
              <a:srgbClr val="B9C4C1"/>
            </a:solidFill>
            <a:prstDash val="solid"/>
          </a:ln>
        </p:spPr>
      </p:sp>
      <p:sp>
        <p:nvSpPr>
          <p:cNvPr id="108" name="Text 106"/>
          <p:cNvSpPr txBox="1"/>
          <p:nvPr/>
        </p:nvSpPr>
        <p:spPr>
          <a:xfrm>
            <a:off x="3488985" y="2441448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510" dirty="0"/>
          </a:p>
        </p:txBody>
      </p:sp>
      <p:sp>
        <p:nvSpPr>
          <p:cNvPr id="109" name="Text 107"/>
          <p:cNvSpPr txBox="1"/>
          <p:nvPr/>
        </p:nvSpPr>
        <p:spPr>
          <a:xfrm>
            <a:off x="4434840" y="2322576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ATG de início ausente</a:t>
            </a:r>
            <a:endParaRPr lang="en-US" sz="1100" dirty="0"/>
          </a:p>
        </p:txBody>
      </p:sp>
      <p:sp>
        <p:nvSpPr>
          <p:cNvPr id="110" name="Text 108"/>
          <p:cNvSpPr txBox="1"/>
          <p:nvPr/>
        </p:nvSpPr>
        <p:spPr>
          <a:xfrm>
            <a:off x="6720840" y="2322576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BUG - START ausente</a:t>
            </a:r>
            <a:endParaRPr lang="en-US" sz="1000" dirty="0"/>
          </a:p>
        </p:txBody>
      </p:sp>
      <p:sp>
        <p:nvSpPr>
          <p:cNvPr id="111" name="Shape 109"/>
          <p:cNvSpPr/>
          <p:nvPr/>
        </p:nvSpPr>
        <p:spPr>
          <a:xfrm>
            <a:off x="548640" y="2999232"/>
            <a:ext cx="347472" cy="347472"/>
          </a:xfrm>
          <a:prstGeom prst="ellipse">
            <a:avLst/>
          </a:prstGeom>
          <a:solidFill>
            <a:srgbClr val="0B3D3A"/>
          </a:solidFill>
          <a:ln w="12700">
            <a:solidFill>
              <a:srgbClr val="0B3D3A"/>
            </a:solidFill>
            <a:prstDash val="solid"/>
          </a:ln>
        </p:spPr>
      </p:sp>
      <p:sp>
        <p:nvSpPr>
          <p:cNvPr id="112" name="Text 110"/>
          <p:cNvSpPr txBox="1"/>
          <p:nvPr/>
        </p:nvSpPr>
        <p:spPr>
          <a:xfrm>
            <a:off x="548640" y="2999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13" name="Shape 111"/>
          <p:cNvSpPr/>
          <p:nvPr/>
        </p:nvSpPr>
        <p:spPr>
          <a:xfrm>
            <a:off x="1051560" y="3008376"/>
            <a:ext cx="155448" cy="155448"/>
          </a:xfrm>
          <a:prstGeom prst="roundRect">
            <a:avLst>
              <a:gd name="adj" fmla="val 18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14" name="Text 112"/>
          <p:cNvSpPr txBox="1"/>
          <p:nvPr/>
        </p:nvSpPr>
        <p:spPr>
          <a:xfrm>
            <a:off x="1051560" y="3008376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510" dirty="0"/>
          </a:p>
        </p:txBody>
      </p:sp>
      <p:sp>
        <p:nvSpPr>
          <p:cNvPr id="115" name="Shape 113"/>
          <p:cNvSpPr/>
          <p:nvPr/>
        </p:nvSpPr>
        <p:spPr>
          <a:xfrm>
            <a:off x="1225662" y="3008376"/>
            <a:ext cx="155448" cy="155448"/>
          </a:xfrm>
          <a:prstGeom prst="roundRect">
            <a:avLst>
              <a:gd name="adj" fmla="val 18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16" name="Text 114"/>
          <p:cNvSpPr txBox="1"/>
          <p:nvPr/>
        </p:nvSpPr>
        <p:spPr>
          <a:xfrm>
            <a:off x="1225662" y="3008376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510" dirty="0"/>
          </a:p>
        </p:txBody>
      </p:sp>
      <p:sp>
        <p:nvSpPr>
          <p:cNvPr id="117" name="Shape 115"/>
          <p:cNvSpPr/>
          <p:nvPr/>
        </p:nvSpPr>
        <p:spPr>
          <a:xfrm>
            <a:off x="1399764" y="3008376"/>
            <a:ext cx="155448" cy="155448"/>
          </a:xfrm>
          <a:prstGeom prst="roundRect">
            <a:avLst>
              <a:gd name="adj" fmla="val 18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18" name="Text 116"/>
          <p:cNvSpPr txBox="1"/>
          <p:nvPr/>
        </p:nvSpPr>
        <p:spPr>
          <a:xfrm>
            <a:off x="1399764" y="3008376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510" dirty="0"/>
          </a:p>
        </p:txBody>
      </p:sp>
      <p:sp>
        <p:nvSpPr>
          <p:cNvPr id="119" name="Shape 117"/>
          <p:cNvSpPr/>
          <p:nvPr/>
        </p:nvSpPr>
        <p:spPr>
          <a:xfrm>
            <a:off x="1573865" y="3008376"/>
            <a:ext cx="155448" cy="155448"/>
          </a:xfrm>
          <a:prstGeom prst="roundRect">
            <a:avLst>
              <a:gd name="adj" fmla="val 18000"/>
            </a:avLst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120" name="Text 118"/>
          <p:cNvSpPr txBox="1"/>
          <p:nvPr/>
        </p:nvSpPr>
        <p:spPr>
          <a:xfrm>
            <a:off x="1573865" y="3008376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510" dirty="0"/>
          </a:p>
        </p:txBody>
      </p:sp>
      <p:sp>
        <p:nvSpPr>
          <p:cNvPr id="121" name="Shape 119"/>
          <p:cNvSpPr/>
          <p:nvPr/>
        </p:nvSpPr>
        <p:spPr>
          <a:xfrm>
            <a:off x="1747967" y="3008376"/>
            <a:ext cx="155448" cy="155448"/>
          </a:xfrm>
          <a:prstGeom prst="roundRect">
            <a:avLst>
              <a:gd name="adj" fmla="val 18000"/>
            </a:avLst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122" name="Text 120"/>
          <p:cNvSpPr txBox="1"/>
          <p:nvPr/>
        </p:nvSpPr>
        <p:spPr>
          <a:xfrm>
            <a:off x="1747967" y="3008376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510" dirty="0"/>
          </a:p>
        </p:txBody>
      </p:sp>
      <p:sp>
        <p:nvSpPr>
          <p:cNvPr id="123" name="Shape 121"/>
          <p:cNvSpPr/>
          <p:nvPr/>
        </p:nvSpPr>
        <p:spPr>
          <a:xfrm>
            <a:off x="1922069" y="3008376"/>
            <a:ext cx="155448" cy="155448"/>
          </a:xfrm>
          <a:prstGeom prst="roundRect">
            <a:avLst>
              <a:gd name="adj" fmla="val 18000"/>
            </a:avLst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124" name="Text 122"/>
          <p:cNvSpPr txBox="1"/>
          <p:nvPr/>
        </p:nvSpPr>
        <p:spPr>
          <a:xfrm>
            <a:off x="1922069" y="3008376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510" dirty="0"/>
          </a:p>
        </p:txBody>
      </p:sp>
      <p:sp>
        <p:nvSpPr>
          <p:cNvPr id="125" name="Shape 123"/>
          <p:cNvSpPr/>
          <p:nvPr/>
        </p:nvSpPr>
        <p:spPr>
          <a:xfrm>
            <a:off x="2096171" y="3008376"/>
            <a:ext cx="155448" cy="155448"/>
          </a:xfrm>
          <a:prstGeom prst="roundRect">
            <a:avLst>
              <a:gd name="adj" fmla="val 18000"/>
            </a:avLst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126" name="Text 124"/>
          <p:cNvSpPr txBox="1"/>
          <p:nvPr/>
        </p:nvSpPr>
        <p:spPr>
          <a:xfrm>
            <a:off x="2096171" y="3008376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510" dirty="0"/>
          </a:p>
        </p:txBody>
      </p:sp>
      <p:sp>
        <p:nvSpPr>
          <p:cNvPr id="127" name="Shape 125"/>
          <p:cNvSpPr/>
          <p:nvPr/>
        </p:nvSpPr>
        <p:spPr>
          <a:xfrm>
            <a:off x="2270272" y="3008376"/>
            <a:ext cx="155448" cy="155448"/>
          </a:xfrm>
          <a:prstGeom prst="roundRect">
            <a:avLst>
              <a:gd name="adj" fmla="val 18000"/>
            </a:avLst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128" name="Text 126"/>
          <p:cNvSpPr txBox="1"/>
          <p:nvPr/>
        </p:nvSpPr>
        <p:spPr>
          <a:xfrm>
            <a:off x="2270272" y="3008376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510" dirty="0"/>
          </a:p>
        </p:txBody>
      </p:sp>
      <p:sp>
        <p:nvSpPr>
          <p:cNvPr id="129" name="Shape 127"/>
          <p:cNvSpPr/>
          <p:nvPr/>
        </p:nvSpPr>
        <p:spPr>
          <a:xfrm>
            <a:off x="2444374" y="3008376"/>
            <a:ext cx="155448" cy="155448"/>
          </a:xfrm>
          <a:prstGeom prst="roundRect">
            <a:avLst>
              <a:gd name="adj" fmla="val 18000"/>
            </a:avLst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130" name="Text 128"/>
          <p:cNvSpPr txBox="1"/>
          <p:nvPr/>
        </p:nvSpPr>
        <p:spPr>
          <a:xfrm>
            <a:off x="2444374" y="3008376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510" dirty="0"/>
          </a:p>
        </p:txBody>
      </p:sp>
      <p:sp>
        <p:nvSpPr>
          <p:cNvPr id="131" name="Shape 129"/>
          <p:cNvSpPr/>
          <p:nvPr/>
        </p:nvSpPr>
        <p:spPr>
          <a:xfrm>
            <a:off x="2618476" y="3008376"/>
            <a:ext cx="155448" cy="155448"/>
          </a:xfrm>
          <a:prstGeom prst="roundRect">
            <a:avLst>
              <a:gd name="adj" fmla="val 18000"/>
            </a:avLst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132" name="Text 130"/>
          <p:cNvSpPr txBox="1"/>
          <p:nvPr/>
        </p:nvSpPr>
        <p:spPr>
          <a:xfrm>
            <a:off x="2618476" y="3008376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510" dirty="0"/>
          </a:p>
        </p:txBody>
      </p:sp>
      <p:sp>
        <p:nvSpPr>
          <p:cNvPr id="133" name="Shape 131"/>
          <p:cNvSpPr/>
          <p:nvPr/>
        </p:nvSpPr>
        <p:spPr>
          <a:xfrm>
            <a:off x="2792578" y="3008376"/>
            <a:ext cx="155448" cy="155448"/>
          </a:xfrm>
          <a:prstGeom prst="roundRect">
            <a:avLst>
              <a:gd name="adj" fmla="val 18000"/>
            </a:avLst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134" name="Text 132"/>
          <p:cNvSpPr txBox="1"/>
          <p:nvPr/>
        </p:nvSpPr>
        <p:spPr>
          <a:xfrm>
            <a:off x="2792578" y="3008376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510" dirty="0"/>
          </a:p>
        </p:txBody>
      </p:sp>
      <p:sp>
        <p:nvSpPr>
          <p:cNvPr id="135" name="Shape 133"/>
          <p:cNvSpPr/>
          <p:nvPr/>
        </p:nvSpPr>
        <p:spPr>
          <a:xfrm>
            <a:off x="2966679" y="3008376"/>
            <a:ext cx="155448" cy="155448"/>
          </a:xfrm>
          <a:prstGeom prst="roundRect">
            <a:avLst>
              <a:gd name="adj" fmla="val 18000"/>
            </a:avLst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136" name="Text 134"/>
          <p:cNvSpPr txBox="1"/>
          <p:nvPr/>
        </p:nvSpPr>
        <p:spPr>
          <a:xfrm>
            <a:off x="2966679" y="3008376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510" dirty="0"/>
          </a:p>
        </p:txBody>
      </p:sp>
      <p:sp>
        <p:nvSpPr>
          <p:cNvPr id="137" name="Shape 135"/>
          <p:cNvSpPr/>
          <p:nvPr/>
        </p:nvSpPr>
        <p:spPr>
          <a:xfrm>
            <a:off x="3140781" y="3008376"/>
            <a:ext cx="155448" cy="155448"/>
          </a:xfrm>
          <a:prstGeom prst="roundRect">
            <a:avLst>
              <a:gd name="adj" fmla="val 18000"/>
            </a:avLst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138" name="Text 136"/>
          <p:cNvSpPr txBox="1"/>
          <p:nvPr/>
        </p:nvSpPr>
        <p:spPr>
          <a:xfrm>
            <a:off x="3140781" y="3008376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510" dirty="0"/>
          </a:p>
        </p:txBody>
      </p:sp>
      <p:sp>
        <p:nvSpPr>
          <p:cNvPr id="139" name="Shape 137"/>
          <p:cNvSpPr/>
          <p:nvPr/>
        </p:nvSpPr>
        <p:spPr>
          <a:xfrm>
            <a:off x="3314883" y="3008376"/>
            <a:ext cx="155448" cy="155448"/>
          </a:xfrm>
          <a:prstGeom prst="roundRect">
            <a:avLst>
              <a:gd name="adj" fmla="val 18000"/>
            </a:avLst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140" name="Text 138"/>
          <p:cNvSpPr txBox="1"/>
          <p:nvPr/>
        </p:nvSpPr>
        <p:spPr>
          <a:xfrm>
            <a:off x="3314883" y="3008376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510" dirty="0"/>
          </a:p>
        </p:txBody>
      </p:sp>
      <p:sp>
        <p:nvSpPr>
          <p:cNvPr id="141" name="Shape 139"/>
          <p:cNvSpPr/>
          <p:nvPr/>
        </p:nvSpPr>
        <p:spPr>
          <a:xfrm>
            <a:off x="3488985" y="3008376"/>
            <a:ext cx="155448" cy="155448"/>
          </a:xfrm>
          <a:prstGeom prst="roundRect">
            <a:avLst>
              <a:gd name="adj" fmla="val 18000"/>
            </a:avLst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142" name="Text 140"/>
          <p:cNvSpPr txBox="1"/>
          <p:nvPr/>
        </p:nvSpPr>
        <p:spPr>
          <a:xfrm>
            <a:off x="3488985" y="3008376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510" dirty="0"/>
          </a:p>
        </p:txBody>
      </p:sp>
      <p:sp>
        <p:nvSpPr>
          <p:cNvPr id="143" name="Text 141"/>
          <p:cNvSpPr txBox="1"/>
          <p:nvPr/>
        </p:nvSpPr>
        <p:spPr>
          <a:xfrm>
            <a:off x="4434840" y="2889504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STOP em fase após o START</a:t>
            </a:r>
            <a:endParaRPr lang="en-US" sz="1100" dirty="0"/>
          </a:p>
        </p:txBody>
      </p:sp>
      <p:sp>
        <p:nvSpPr>
          <p:cNvPr id="144" name="Text 142"/>
          <p:cNvSpPr txBox="1"/>
          <p:nvPr/>
        </p:nvSpPr>
        <p:spPr>
          <a:xfrm>
            <a:off x="6720840" y="2889504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BUG - STOP ausente</a:t>
            </a:r>
            <a:endParaRPr lang="en-US" sz="1000" dirty="0"/>
          </a:p>
        </p:txBody>
      </p:sp>
      <p:sp>
        <p:nvSpPr>
          <p:cNvPr id="145" name="Shape 143"/>
          <p:cNvSpPr/>
          <p:nvPr/>
        </p:nvSpPr>
        <p:spPr>
          <a:xfrm>
            <a:off x="457200" y="3456432"/>
            <a:ext cx="8229600" cy="566928"/>
          </a:xfrm>
          <a:prstGeom prst="rect">
            <a:avLst/>
          </a:prstGeom>
          <a:solidFill>
            <a:srgbClr val="E6F2EF"/>
          </a:solidFill>
          <a:ln w="12700">
            <a:solidFill>
              <a:srgbClr val="E6F2EF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548640" y="3566160"/>
            <a:ext cx="347472" cy="347472"/>
          </a:xfrm>
          <a:prstGeom prst="ellipse">
            <a:avLst/>
          </a:prstGeom>
          <a:solidFill>
            <a:srgbClr val="0B3D3A"/>
          </a:solidFill>
          <a:ln w="12700">
            <a:solidFill>
              <a:srgbClr val="0B3D3A"/>
            </a:solidFill>
            <a:prstDash val="solid"/>
          </a:ln>
        </p:spPr>
      </p:sp>
      <p:sp>
        <p:nvSpPr>
          <p:cNvPr id="147" name="Text 145"/>
          <p:cNvSpPr txBox="1"/>
          <p:nvPr/>
        </p:nvSpPr>
        <p:spPr>
          <a:xfrm>
            <a:off x="548640" y="3566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48" name="Shape 146"/>
          <p:cNvSpPr/>
          <p:nvPr/>
        </p:nvSpPr>
        <p:spPr>
          <a:xfrm>
            <a:off x="1051560" y="3575304"/>
            <a:ext cx="155448" cy="155448"/>
          </a:xfrm>
          <a:prstGeom prst="roundRect">
            <a:avLst>
              <a:gd name="adj" fmla="val 18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49" name="Text 147"/>
          <p:cNvSpPr txBox="1"/>
          <p:nvPr/>
        </p:nvSpPr>
        <p:spPr>
          <a:xfrm>
            <a:off x="1051560" y="3575304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510" dirty="0"/>
          </a:p>
        </p:txBody>
      </p:sp>
      <p:sp>
        <p:nvSpPr>
          <p:cNvPr id="150" name="Shape 148"/>
          <p:cNvSpPr/>
          <p:nvPr/>
        </p:nvSpPr>
        <p:spPr>
          <a:xfrm>
            <a:off x="1225662" y="3575304"/>
            <a:ext cx="155448" cy="155448"/>
          </a:xfrm>
          <a:prstGeom prst="roundRect">
            <a:avLst>
              <a:gd name="adj" fmla="val 18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51" name="Text 149"/>
          <p:cNvSpPr txBox="1"/>
          <p:nvPr/>
        </p:nvSpPr>
        <p:spPr>
          <a:xfrm>
            <a:off x="1225662" y="3575304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510" dirty="0"/>
          </a:p>
        </p:txBody>
      </p:sp>
      <p:sp>
        <p:nvSpPr>
          <p:cNvPr id="152" name="Shape 150"/>
          <p:cNvSpPr/>
          <p:nvPr/>
        </p:nvSpPr>
        <p:spPr>
          <a:xfrm>
            <a:off x="1399764" y="3575304"/>
            <a:ext cx="155448" cy="155448"/>
          </a:xfrm>
          <a:prstGeom prst="roundRect">
            <a:avLst>
              <a:gd name="adj" fmla="val 18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53" name="Text 151"/>
          <p:cNvSpPr txBox="1"/>
          <p:nvPr/>
        </p:nvSpPr>
        <p:spPr>
          <a:xfrm>
            <a:off x="1399764" y="3575304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510" dirty="0"/>
          </a:p>
        </p:txBody>
      </p:sp>
      <p:sp>
        <p:nvSpPr>
          <p:cNvPr id="154" name="Shape 152"/>
          <p:cNvSpPr/>
          <p:nvPr/>
        </p:nvSpPr>
        <p:spPr>
          <a:xfrm>
            <a:off x="1573865" y="3575304"/>
            <a:ext cx="155448" cy="155448"/>
          </a:xfrm>
          <a:prstGeom prst="roundRect">
            <a:avLst>
              <a:gd name="adj" fmla="val 18000"/>
            </a:avLst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155" name="Text 153"/>
          <p:cNvSpPr txBox="1"/>
          <p:nvPr/>
        </p:nvSpPr>
        <p:spPr>
          <a:xfrm>
            <a:off x="1573865" y="3575304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510" dirty="0"/>
          </a:p>
        </p:txBody>
      </p:sp>
      <p:sp>
        <p:nvSpPr>
          <p:cNvPr id="156" name="Shape 154"/>
          <p:cNvSpPr/>
          <p:nvPr/>
        </p:nvSpPr>
        <p:spPr>
          <a:xfrm>
            <a:off x="1747967" y="3575304"/>
            <a:ext cx="155448" cy="155448"/>
          </a:xfrm>
          <a:prstGeom prst="roundRect">
            <a:avLst>
              <a:gd name="adj" fmla="val 18000"/>
            </a:avLst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157" name="Text 155"/>
          <p:cNvSpPr txBox="1"/>
          <p:nvPr/>
        </p:nvSpPr>
        <p:spPr>
          <a:xfrm>
            <a:off x="1747967" y="3575304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510" dirty="0"/>
          </a:p>
        </p:txBody>
      </p:sp>
      <p:sp>
        <p:nvSpPr>
          <p:cNvPr id="158" name="Shape 156"/>
          <p:cNvSpPr/>
          <p:nvPr/>
        </p:nvSpPr>
        <p:spPr>
          <a:xfrm>
            <a:off x="1922069" y="3575304"/>
            <a:ext cx="155448" cy="155448"/>
          </a:xfrm>
          <a:prstGeom prst="roundRect">
            <a:avLst>
              <a:gd name="adj" fmla="val 18000"/>
            </a:avLst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159" name="Text 157"/>
          <p:cNvSpPr txBox="1"/>
          <p:nvPr/>
        </p:nvSpPr>
        <p:spPr>
          <a:xfrm>
            <a:off x="1922069" y="3575304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510" dirty="0"/>
          </a:p>
        </p:txBody>
      </p:sp>
      <p:sp>
        <p:nvSpPr>
          <p:cNvPr id="160" name="Shape 158"/>
          <p:cNvSpPr/>
          <p:nvPr/>
        </p:nvSpPr>
        <p:spPr>
          <a:xfrm>
            <a:off x="2096171" y="3575304"/>
            <a:ext cx="155448" cy="155448"/>
          </a:xfrm>
          <a:prstGeom prst="roundRect">
            <a:avLst>
              <a:gd name="adj" fmla="val 18000"/>
            </a:avLst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161" name="Text 159"/>
          <p:cNvSpPr txBox="1"/>
          <p:nvPr/>
        </p:nvSpPr>
        <p:spPr>
          <a:xfrm>
            <a:off x="2096171" y="3575304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510" dirty="0"/>
          </a:p>
        </p:txBody>
      </p:sp>
      <p:sp>
        <p:nvSpPr>
          <p:cNvPr id="162" name="Shape 160"/>
          <p:cNvSpPr/>
          <p:nvPr/>
        </p:nvSpPr>
        <p:spPr>
          <a:xfrm>
            <a:off x="2270272" y="3575304"/>
            <a:ext cx="155448" cy="155448"/>
          </a:xfrm>
          <a:prstGeom prst="roundRect">
            <a:avLst>
              <a:gd name="adj" fmla="val 18000"/>
            </a:avLst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163" name="Text 161"/>
          <p:cNvSpPr txBox="1"/>
          <p:nvPr/>
        </p:nvSpPr>
        <p:spPr>
          <a:xfrm>
            <a:off x="2270272" y="3575304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510" dirty="0"/>
          </a:p>
        </p:txBody>
      </p:sp>
      <p:sp>
        <p:nvSpPr>
          <p:cNvPr id="164" name="Shape 162"/>
          <p:cNvSpPr/>
          <p:nvPr/>
        </p:nvSpPr>
        <p:spPr>
          <a:xfrm>
            <a:off x="2444374" y="3575304"/>
            <a:ext cx="155448" cy="155448"/>
          </a:xfrm>
          <a:prstGeom prst="roundRect">
            <a:avLst>
              <a:gd name="adj" fmla="val 18000"/>
            </a:avLst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165" name="Text 163"/>
          <p:cNvSpPr txBox="1"/>
          <p:nvPr/>
        </p:nvSpPr>
        <p:spPr>
          <a:xfrm>
            <a:off x="2444374" y="3575304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510" dirty="0"/>
          </a:p>
        </p:txBody>
      </p:sp>
      <p:sp>
        <p:nvSpPr>
          <p:cNvPr id="166" name="Shape 164"/>
          <p:cNvSpPr/>
          <p:nvPr/>
        </p:nvSpPr>
        <p:spPr>
          <a:xfrm>
            <a:off x="2618476" y="3575304"/>
            <a:ext cx="155448" cy="155448"/>
          </a:xfrm>
          <a:prstGeom prst="roundRect">
            <a:avLst>
              <a:gd name="adj" fmla="val 18000"/>
            </a:avLst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167" name="Text 165"/>
          <p:cNvSpPr txBox="1"/>
          <p:nvPr/>
        </p:nvSpPr>
        <p:spPr>
          <a:xfrm>
            <a:off x="2618476" y="3575304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510" dirty="0"/>
          </a:p>
        </p:txBody>
      </p:sp>
      <p:sp>
        <p:nvSpPr>
          <p:cNvPr id="168" name="Shape 166"/>
          <p:cNvSpPr/>
          <p:nvPr/>
        </p:nvSpPr>
        <p:spPr>
          <a:xfrm>
            <a:off x="2792578" y="3575304"/>
            <a:ext cx="155448" cy="155448"/>
          </a:xfrm>
          <a:prstGeom prst="roundRect">
            <a:avLst>
              <a:gd name="adj" fmla="val 18000"/>
            </a:avLst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169" name="Text 167"/>
          <p:cNvSpPr txBox="1"/>
          <p:nvPr/>
        </p:nvSpPr>
        <p:spPr>
          <a:xfrm>
            <a:off x="2792578" y="3575304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510" dirty="0"/>
          </a:p>
        </p:txBody>
      </p:sp>
      <p:sp>
        <p:nvSpPr>
          <p:cNvPr id="170" name="Shape 168"/>
          <p:cNvSpPr/>
          <p:nvPr/>
        </p:nvSpPr>
        <p:spPr>
          <a:xfrm>
            <a:off x="2966679" y="3575304"/>
            <a:ext cx="155448" cy="155448"/>
          </a:xfrm>
          <a:prstGeom prst="roundRect">
            <a:avLst>
              <a:gd name="adj" fmla="val 18000"/>
            </a:avLst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171" name="Text 169"/>
          <p:cNvSpPr txBox="1"/>
          <p:nvPr/>
        </p:nvSpPr>
        <p:spPr>
          <a:xfrm>
            <a:off x="2966679" y="3575304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510" dirty="0"/>
          </a:p>
        </p:txBody>
      </p:sp>
      <p:sp>
        <p:nvSpPr>
          <p:cNvPr id="172" name="Shape 170"/>
          <p:cNvSpPr/>
          <p:nvPr/>
        </p:nvSpPr>
        <p:spPr>
          <a:xfrm>
            <a:off x="3140781" y="3575304"/>
            <a:ext cx="155448" cy="155448"/>
          </a:xfrm>
          <a:prstGeom prst="roundRect">
            <a:avLst>
              <a:gd name="adj" fmla="val 18000"/>
            </a:avLst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173" name="Text 171"/>
          <p:cNvSpPr txBox="1"/>
          <p:nvPr/>
        </p:nvSpPr>
        <p:spPr>
          <a:xfrm>
            <a:off x="3140781" y="3575304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510" dirty="0"/>
          </a:p>
        </p:txBody>
      </p:sp>
      <p:sp>
        <p:nvSpPr>
          <p:cNvPr id="174" name="Shape 172"/>
          <p:cNvSpPr/>
          <p:nvPr/>
        </p:nvSpPr>
        <p:spPr>
          <a:xfrm>
            <a:off x="3314883" y="3575304"/>
            <a:ext cx="155448" cy="155448"/>
          </a:xfrm>
          <a:prstGeom prst="roundRect">
            <a:avLst>
              <a:gd name="adj" fmla="val 18000"/>
            </a:avLst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175" name="Text 173"/>
          <p:cNvSpPr txBox="1"/>
          <p:nvPr/>
        </p:nvSpPr>
        <p:spPr>
          <a:xfrm>
            <a:off x="3314883" y="3575304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510" dirty="0"/>
          </a:p>
        </p:txBody>
      </p:sp>
      <p:sp>
        <p:nvSpPr>
          <p:cNvPr id="176" name="Shape 174"/>
          <p:cNvSpPr/>
          <p:nvPr/>
        </p:nvSpPr>
        <p:spPr>
          <a:xfrm>
            <a:off x="3488985" y="3575304"/>
            <a:ext cx="155448" cy="155448"/>
          </a:xfrm>
          <a:prstGeom prst="roundRect">
            <a:avLst>
              <a:gd name="adj" fmla="val 18000"/>
            </a:avLst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177" name="Text 175"/>
          <p:cNvSpPr txBox="1"/>
          <p:nvPr/>
        </p:nvSpPr>
        <p:spPr>
          <a:xfrm>
            <a:off x="3488985" y="3575304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510" dirty="0"/>
          </a:p>
        </p:txBody>
      </p:sp>
      <p:sp>
        <p:nvSpPr>
          <p:cNvPr id="178" name="Shape 176"/>
          <p:cNvSpPr/>
          <p:nvPr/>
        </p:nvSpPr>
        <p:spPr>
          <a:xfrm>
            <a:off x="3663086" y="3575304"/>
            <a:ext cx="155448" cy="155448"/>
          </a:xfrm>
          <a:prstGeom prst="roundRect">
            <a:avLst>
              <a:gd name="adj" fmla="val 18000"/>
            </a:avLst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179" name="Text 177"/>
          <p:cNvSpPr txBox="1"/>
          <p:nvPr/>
        </p:nvSpPr>
        <p:spPr>
          <a:xfrm>
            <a:off x="3663086" y="3575304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510" dirty="0"/>
          </a:p>
        </p:txBody>
      </p:sp>
      <p:sp>
        <p:nvSpPr>
          <p:cNvPr id="180" name="Text 178"/>
          <p:cNvSpPr txBox="1"/>
          <p:nvPr/>
        </p:nvSpPr>
        <p:spPr>
          <a:xfrm>
            <a:off x="4434840" y="345643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Região após o START não fecha em trincas</a:t>
            </a:r>
            <a:endParaRPr lang="en-US" sz="1100" dirty="0"/>
          </a:p>
        </p:txBody>
      </p:sp>
      <p:sp>
        <p:nvSpPr>
          <p:cNvPr id="181" name="Text 179"/>
          <p:cNvSpPr txBox="1"/>
          <p:nvPr/>
        </p:nvSpPr>
        <p:spPr>
          <a:xfrm>
            <a:off x="6720840" y="3456432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BUG - frameshift</a:t>
            </a:r>
            <a:endParaRPr lang="en-US" sz="1000" dirty="0"/>
          </a:p>
        </p:txBody>
      </p:sp>
      <p:sp>
        <p:nvSpPr>
          <p:cNvPr id="182" name="Shape 180"/>
          <p:cNvSpPr/>
          <p:nvPr/>
        </p:nvSpPr>
        <p:spPr>
          <a:xfrm>
            <a:off x="548640" y="4133088"/>
            <a:ext cx="347472" cy="347472"/>
          </a:xfrm>
          <a:prstGeom prst="ellipse">
            <a:avLst/>
          </a:prstGeom>
          <a:solidFill>
            <a:srgbClr val="0B3D3A"/>
          </a:solidFill>
          <a:ln w="12700">
            <a:solidFill>
              <a:srgbClr val="0B3D3A"/>
            </a:solidFill>
            <a:prstDash val="solid"/>
          </a:ln>
        </p:spPr>
      </p:sp>
      <p:sp>
        <p:nvSpPr>
          <p:cNvPr id="183" name="Text 181"/>
          <p:cNvSpPr txBox="1"/>
          <p:nvPr/>
        </p:nvSpPr>
        <p:spPr>
          <a:xfrm>
            <a:off x="548640" y="41330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184" name="Shape 182"/>
          <p:cNvSpPr/>
          <p:nvPr/>
        </p:nvSpPr>
        <p:spPr>
          <a:xfrm>
            <a:off x="1051560" y="4142232"/>
            <a:ext cx="155448" cy="155448"/>
          </a:xfrm>
          <a:prstGeom prst="roundRect">
            <a:avLst>
              <a:gd name="adj" fmla="val 18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85" name="Text 183"/>
          <p:cNvSpPr txBox="1"/>
          <p:nvPr/>
        </p:nvSpPr>
        <p:spPr>
          <a:xfrm>
            <a:off x="1051560" y="4142232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510" dirty="0"/>
          </a:p>
        </p:txBody>
      </p:sp>
      <p:sp>
        <p:nvSpPr>
          <p:cNvPr id="186" name="Shape 184"/>
          <p:cNvSpPr/>
          <p:nvPr/>
        </p:nvSpPr>
        <p:spPr>
          <a:xfrm>
            <a:off x="1225662" y="4142232"/>
            <a:ext cx="155448" cy="155448"/>
          </a:xfrm>
          <a:prstGeom prst="roundRect">
            <a:avLst>
              <a:gd name="adj" fmla="val 18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87" name="Text 185"/>
          <p:cNvSpPr txBox="1"/>
          <p:nvPr/>
        </p:nvSpPr>
        <p:spPr>
          <a:xfrm>
            <a:off x="1225662" y="4142232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510" dirty="0"/>
          </a:p>
        </p:txBody>
      </p:sp>
      <p:sp>
        <p:nvSpPr>
          <p:cNvPr id="188" name="Shape 186"/>
          <p:cNvSpPr/>
          <p:nvPr/>
        </p:nvSpPr>
        <p:spPr>
          <a:xfrm>
            <a:off x="1399764" y="4142232"/>
            <a:ext cx="155448" cy="155448"/>
          </a:xfrm>
          <a:prstGeom prst="roundRect">
            <a:avLst>
              <a:gd name="adj" fmla="val 18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89" name="Text 187"/>
          <p:cNvSpPr txBox="1"/>
          <p:nvPr/>
        </p:nvSpPr>
        <p:spPr>
          <a:xfrm>
            <a:off x="1399764" y="4142232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510" dirty="0"/>
          </a:p>
        </p:txBody>
      </p:sp>
      <p:sp>
        <p:nvSpPr>
          <p:cNvPr id="190" name="Shape 188"/>
          <p:cNvSpPr/>
          <p:nvPr/>
        </p:nvSpPr>
        <p:spPr>
          <a:xfrm>
            <a:off x="1573865" y="4142232"/>
            <a:ext cx="155448" cy="155448"/>
          </a:xfrm>
          <a:prstGeom prst="roundRect">
            <a:avLst>
              <a:gd name="adj" fmla="val 18000"/>
            </a:avLst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191" name="Text 189"/>
          <p:cNvSpPr txBox="1"/>
          <p:nvPr/>
        </p:nvSpPr>
        <p:spPr>
          <a:xfrm>
            <a:off x="1573865" y="4142232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510" dirty="0"/>
          </a:p>
        </p:txBody>
      </p:sp>
      <p:sp>
        <p:nvSpPr>
          <p:cNvPr id="192" name="Shape 190"/>
          <p:cNvSpPr/>
          <p:nvPr/>
        </p:nvSpPr>
        <p:spPr>
          <a:xfrm>
            <a:off x="1747967" y="4142232"/>
            <a:ext cx="155448" cy="155448"/>
          </a:xfrm>
          <a:prstGeom prst="roundRect">
            <a:avLst>
              <a:gd name="adj" fmla="val 18000"/>
            </a:avLst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193" name="Text 191"/>
          <p:cNvSpPr txBox="1"/>
          <p:nvPr/>
        </p:nvSpPr>
        <p:spPr>
          <a:xfrm>
            <a:off x="1747967" y="4142232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510" dirty="0"/>
          </a:p>
        </p:txBody>
      </p:sp>
      <p:sp>
        <p:nvSpPr>
          <p:cNvPr id="194" name="Shape 192"/>
          <p:cNvSpPr/>
          <p:nvPr/>
        </p:nvSpPr>
        <p:spPr>
          <a:xfrm>
            <a:off x="1922069" y="4142232"/>
            <a:ext cx="155448" cy="155448"/>
          </a:xfrm>
          <a:prstGeom prst="roundRect">
            <a:avLst>
              <a:gd name="adj" fmla="val 18000"/>
            </a:avLst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195" name="Text 193"/>
          <p:cNvSpPr txBox="1"/>
          <p:nvPr/>
        </p:nvSpPr>
        <p:spPr>
          <a:xfrm>
            <a:off x="1922069" y="4142232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510" dirty="0"/>
          </a:p>
        </p:txBody>
      </p:sp>
      <p:sp>
        <p:nvSpPr>
          <p:cNvPr id="196" name="Shape 194"/>
          <p:cNvSpPr/>
          <p:nvPr/>
        </p:nvSpPr>
        <p:spPr>
          <a:xfrm>
            <a:off x="2096171" y="4142232"/>
            <a:ext cx="155448" cy="155448"/>
          </a:xfrm>
          <a:prstGeom prst="roundRect">
            <a:avLst>
              <a:gd name="adj" fmla="val 18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7" name="Text 195"/>
          <p:cNvSpPr txBox="1"/>
          <p:nvPr/>
        </p:nvSpPr>
        <p:spPr>
          <a:xfrm>
            <a:off x="2096171" y="4142232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510" dirty="0"/>
          </a:p>
        </p:txBody>
      </p:sp>
      <p:sp>
        <p:nvSpPr>
          <p:cNvPr id="198" name="Shape 196"/>
          <p:cNvSpPr/>
          <p:nvPr/>
        </p:nvSpPr>
        <p:spPr>
          <a:xfrm>
            <a:off x="2270272" y="4142232"/>
            <a:ext cx="155448" cy="155448"/>
          </a:xfrm>
          <a:prstGeom prst="roundRect">
            <a:avLst>
              <a:gd name="adj" fmla="val 18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9" name="Text 197"/>
          <p:cNvSpPr txBox="1"/>
          <p:nvPr/>
        </p:nvSpPr>
        <p:spPr>
          <a:xfrm>
            <a:off x="2270272" y="4142232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510" dirty="0"/>
          </a:p>
        </p:txBody>
      </p:sp>
      <p:sp>
        <p:nvSpPr>
          <p:cNvPr id="200" name="Shape 198"/>
          <p:cNvSpPr/>
          <p:nvPr/>
        </p:nvSpPr>
        <p:spPr>
          <a:xfrm>
            <a:off x="2444374" y="4142232"/>
            <a:ext cx="155448" cy="155448"/>
          </a:xfrm>
          <a:prstGeom prst="roundRect">
            <a:avLst>
              <a:gd name="adj" fmla="val 18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1" name="Text 199"/>
          <p:cNvSpPr txBox="1"/>
          <p:nvPr/>
        </p:nvSpPr>
        <p:spPr>
          <a:xfrm>
            <a:off x="2444374" y="4142232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510" dirty="0"/>
          </a:p>
        </p:txBody>
      </p:sp>
      <p:sp>
        <p:nvSpPr>
          <p:cNvPr id="202" name="Shape 200"/>
          <p:cNvSpPr/>
          <p:nvPr/>
        </p:nvSpPr>
        <p:spPr>
          <a:xfrm>
            <a:off x="2618476" y="4142232"/>
            <a:ext cx="155448" cy="155448"/>
          </a:xfrm>
          <a:prstGeom prst="roundRect">
            <a:avLst>
              <a:gd name="adj" fmla="val 18000"/>
            </a:avLst>
          </a:prstGeom>
          <a:solidFill>
            <a:srgbClr val="B9C4C1"/>
          </a:solidFill>
          <a:ln w="12700">
            <a:solidFill>
              <a:srgbClr val="B9C4C1"/>
            </a:solidFill>
            <a:prstDash val="solid"/>
          </a:ln>
        </p:spPr>
      </p:sp>
      <p:sp>
        <p:nvSpPr>
          <p:cNvPr id="203" name="Text 201"/>
          <p:cNvSpPr txBox="1"/>
          <p:nvPr/>
        </p:nvSpPr>
        <p:spPr>
          <a:xfrm>
            <a:off x="2618476" y="4142232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510" dirty="0"/>
          </a:p>
        </p:txBody>
      </p:sp>
      <p:sp>
        <p:nvSpPr>
          <p:cNvPr id="204" name="Shape 202"/>
          <p:cNvSpPr/>
          <p:nvPr/>
        </p:nvSpPr>
        <p:spPr>
          <a:xfrm>
            <a:off x="2792578" y="4142232"/>
            <a:ext cx="155448" cy="155448"/>
          </a:xfrm>
          <a:prstGeom prst="roundRect">
            <a:avLst>
              <a:gd name="adj" fmla="val 18000"/>
            </a:avLst>
          </a:prstGeom>
          <a:solidFill>
            <a:srgbClr val="B9C4C1"/>
          </a:solidFill>
          <a:ln w="12700">
            <a:solidFill>
              <a:srgbClr val="B9C4C1"/>
            </a:solidFill>
            <a:prstDash val="solid"/>
          </a:ln>
        </p:spPr>
      </p:sp>
      <p:sp>
        <p:nvSpPr>
          <p:cNvPr id="205" name="Text 203"/>
          <p:cNvSpPr txBox="1"/>
          <p:nvPr/>
        </p:nvSpPr>
        <p:spPr>
          <a:xfrm>
            <a:off x="2792578" y="4142232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510" dirty="0"/>
          </a:p>
        </p:txBody>
      </p:sp>
      <p:sp>
        <p:nvSpPr>
          <p:cNvPr id="206" name="Shape 204"/>
          <p:cNvSpPr/>
          <p:nvPr/>
        </p:nvSpPr>
        <p:spPr>
          <a:xfrm>
            <a:off x="2966679" y="4142232"/>
            <a:ext cx="155448" cy="155448"/>
          </a:xfrm>
          <a:prstGeom prst="roundRect">
            <a:avLst>
              <a:gd name="adj" fmla="val 18000"/>
            </a:avLst>
          </a:prstGeom>
          <a:solidFill>
            <a:srgbClr val="B9C4C1"/>
          </a:solidFill>
          <a:ln w="12700">
            <a:solidFill>
              <a:srgbClr val="B9C4C1"/>
            </a:solidFill>
            <a:prstDash val="solid"/>
          </a:ln>
        </p:spPr>
      </p:sp>
      <p:sp>
        <p:nvSpPr>
          <p:cNvPr id="207" name="Text 205"/>
          <p:cNvSpPr txBox="1"/>
          <p:nvPr/>
        </p:nvSpPr>
        <p:spPr>
          <a:xfrm>
            <a:off x="2966679" y="4142232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510" dirty="0"/>
          </a:p>
        </p:txBody>
      </p:sp>
      <p:sp>
        <p:nvSpPr>
          <p:cNvPr id="208" name="Shape 206"/>
          <p:cNvSpPr/>
          <p:nvPr/>
        </p:nvSpPr>
        <p:spPr>
          <a:xfrm>
            <a:off x="3140781" y="4142232"/>
            <a:ext cx="155448" cy="155448"/>
          </a:xfrm>
          <a:prstGeom prst="roundRect">
            <a:avLst>
              <a:gd name="adj" fmla="val 18000"/>
            </a:avLst>
          </a:prstGeom>
          <a:solidFill>
            <a:srgbClr val="B9C4C1"/>
          </a:solidFill>
          <a:ln w="12700">
            <a:solidFill>
              <a:srgbClr val="B9C4C1"/>
            </a:solidFill>
            <a:prstDash val="solid"/>
          </a:ln>
        </p:spPr>
      </p:sp>
      <p:sp>
        <p:nvSpPr>
          <p:cNvPr id="209" name="Text 207"/>
          <p:cNvSpPr txBox="1"/>
          <p:nvPr/>
        </p:nvSpPr>
        <p:spPr>
          <a:xfrm>
            <a:off x="3140781" y="4142232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510" dirty="0"/>
          </a:p>
        </p:txBody>
      </p:sp>
      <p:sp>
        <p:nvSpPr>
          <p:cNvPr id="210" name="Shape 208"/>
          <p:cNvSpPr/>
          <p:nvPr/>
        </p:nvSpPr>
        <p:spPr>
          <a:xfrm>
            <a:off x="3314883" y="4142232"/>
            <a:ext cx="155448" cy="155448"/>
          </a:xfrm>
          <a:prstGeom prst="roundRect">
            <a:avLst>
              <a:gd name="adj" fmla="val 18000"/>
            </a:avLst>
          </a:prstGeom>
          <a:solidFill>
            <a:srgbClr val="B9C4C1"/>
          </a:solidFill>
          <a:ln w="12700">
            <a:solidFill>
              <a:srgbClr val="B9C4C1"/>
            </a:solidFill>
            <a:prstDash val="solid"/>
          </a:ln>
        </p:spPr>
      </p:sp>
      <p:sp>
        <p:nvSpPr>
          <p:cNvPr id="211" name="Text 209"/>
          <p:cNvSpPr txBox="1"/>
          <p:nvPr/>
        </p:nvSpPr>
        <p:spPr>
          <a:xfrm>
            <a:off x="3314883" y="4142232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510" dirty="0"/>
          </a:p>
        </p:txBody>
      </p:sp>
      <p:sp>
        <p:nvSpPr>
          <p:cNvPr id="212" name="Shape 210"/>
          <p:cNvSpPr/>
          <p:nvPr/>
        </p:nvSpPr>
        <p:spPr>
          <a:xfrm>
            <a:off x="3488985" y="4142232"/>
            <a:ext cx="155448" cy="155448"/>
          </a:xfrm>
          <a:prstGeom prst="roundRect">
            <a:avLst>
              <a:gd name="adj" fmla="val 18000"/>
            </a:avLst>
          </a:prstGeom>
          <a:solidFill>
            <a:srgbClr val="B9C4C1"/>
          </a:solidFill>
          <a:ln w="12700">
            <a:solidFill>
              <a:srgbClr val="B9C4C1"/>
            </a:solidFill>
            <a:prstDash val="solid"/>
          </a:ln>
        </p:spPr>
      </p:sp>
      <p:sp>
        <p:nvSpPr>
          <p:cNvPr id="213" name="Text 211"/>
          <p:cNvSpPr txBox="1"/>
          <p:nvPr/>
        </p:nvSpPr>
        <p:spPr>
          <a:xfrm>
            <a:off x="3488985" y="4142232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510" dirty="0"/>
          </a:p>
        </p:txBody>
      </p:sp>
      <p:sp>
        <p:nvSpPr>
          <p:cNvPr id="214" name="Shape 212"/>
          <p:cNvSpPr/>
          <p:nvPr/>
        </p:nvSpPr>
        <p:spPr>
          <a:xfrm>
            <a:off x="3663086" y="4142232"/>
            <a:ext cx="155448" cy="155448"/>
          </a:xfrm>
          <a:prstGeom prst="roundRect">
            <a:avLst>
              <a:gd name="adj" fmla="val 18000"/>
            </a:avLst>
          </a:prstGeom>
          <a:solidFill>
            <a:srgbClr val="B9C4C1"/>
          </a:solidFill>
          <a:ln w="12700">
            <a:solidFill>
              <a:srgbClr val="B9C4C1"/>
            </a:solidFill>
            <a:prstDash val="solid"/>
          </a:ln>
        </p:spPr>
      </p:sp>
      <p:sp>
        <p:nvSpPr>
          <p:cNvPr id="215" name="Text 213"/>
          <p:cNvSpPr txBox="1"/>
          <p:nvPr/>
        </p:nvSpPr>
        <p:spPr>
          <a:xfrm>
            <a:off x="3663086" y="4142232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510" dirty="0"/>
          </a:p>
        </p:txBody>
      </p:sp>
      <p:sp>
        <p:nvSpPr>
          <p:cNvPr id="216" name="Shape 214"/>
          <p:cNvSpPr/>
          <p:nvPr/>
        </p:nvSpPr>
        <p:spPr>
          <a:xfrm>
            <a:off x="3837188" y="4142232"/>
            <a:ext cx="155448" cy="155448"/>
          </a:xfrm>
          <a:prstGeom prst="roundRect">
            <a:avLst>
              <a:gd name="adj" fmla="val 18000"/>
            </a:avLst>
          </a:prstGeom>
          <a:solidFill>
            <a:srgbClr val="B9C4C1"/>
          </a:solidFill>
          <a:ln w="12700">
            <a:solidFill>
              <a:srgbClr val="B9C4C1"/>
            </a:solidFill>
            <a:prstDash val="solid"/>
          </a:ln>
        </p:spPr>
      </p:sp>
      <p:sp>
        <p:nvSpPr>
          <p:cNvPr id="217" name="Text 215"/>
          <p:cNvSpPr txBox="1"/>
          <p:nvPr/>
        </p:nvSpPr>
        <p:spPr>
          <a:xfrm>
            <a:off x="3837188" y="4142232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510" dirty="0"/>
          </a:p>
        </p:txBody>
      </p:sp>
      <p:sp>
        <p:nvSpPr>
          <p:cNvPr id="218" name="Shape 216"/>
          <p:cNvSpPr/>
          <p:nvPr/>
        </p:nvSpPr>
        <p:spPr>
          <a:xfrm>
            <a:off x="4011290" y="4142232"/>
            <a:ext cx="155448" cy="155448"/>
          </a:xfrm>
          <a:prstGeom prst="roundRect">
            <a:avLst>
              <a:gd name="adj" fmla="val 18000"/>
            </a:avLst>
          </a:prstGeom>
          <a:solidFill>
            <a:srgbClr val="B9C4C1"/>
          </a:solidFill>
          <a:ln w="12700">
            <a:solidFill>
              <a:srgbClr val="B9C4C1"/>
            </a:solidFill>
            <a:prstDash val="solid"/>
          </a:ln>
        </p:spPr>
      </p:sp>
      <p:sp>
        <p:nvSpPr>
          <p:cNvPr id="219" name="Text 217"/>
          <p:cNvSpPr txBox="1"/>
          <p:nvPr/>
        </p:nvSpPr>
        <p:spPr>
          <a:xfrm>
            <a:off x="4011290" y="4142232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510" dirty="0"/>
          </a:p>
        </p:txBody>
      </p:sp>
      <p:sp>
        <p:nvSpPr>
          <p:cNvPr id="220" name="Text 218"/>
          <p:cNvSpPr txBox="1"/>
          <p:nvPr/>
        </p:nvSpPr>
        <p:spPr>
          <a:xfrm>
            <a:off x="4434840" y="402336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em fase antes do término esperado</a:t>
            </a:r>
            <a:endParaRPr lang="en-US" sz="1100" dirty="0"/>
          </a:p>
        </p:txBody>
      </p:sp>
      <p:sp>
        <p:nvSpPr>
          <p:cNvPr id="221" name="Text 219"/>
          <p:cNvSpPr txBox="1"/>
          <p:nvPr/>
        </p:nvSpPr>
        <p:spPr>
          <a:xfrm>
            <a:off x="6720840" y="402336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BUG - nonsense / STOP prematuro</a:t>
            </a:r>
            <a:endParaRPr lang="en-US" sz="1000" dirty="0"/>
          </a:p>
        </p:txBody>
      </p:sp>
      <p:sp>
        <p:nvSpPr>
          <p:cNvPr id="222" name="Text 220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BioCompiler 1.0  ·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Ordem de precedência: uma cascata de decisões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298448" cy="640080"/>
          </a:xfrm>
          <a:prstGeom prst="roundRect">
            <a:avLst>
              <a:gd name="adj" fmla="val 11429"/>
            </a:avLst>
          </a:prstGeom>
          <a:solidFill>
            <a:srgbClr val="0B3D3A"/>
          </a:solidFill>
          <a:ln w="12700">
            <a:solidFill>
              <a:srgbClr val="0B3D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34440"/>
            <a:ext cx="1298448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inválida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847088" y="1234440"/>
            <a:ext cx="1298448" cy="640080"/>
          </a:xfrm>
          <a:prstGeom prst="roundRect">
            <a:avLst>
              <a:gd name="adj" fmla="val 11429"/>
            </a:avLst>
          </a:prstGeom>
          <a:solidFill>
            <a:srgbClr val="0B3D3A"/>
          </a:solidFill>
          <a:ln w="12700">
            <a:solidFill>
              <a:srgbClr val="0B3D3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847088" y="1234440"/>
            <a:ext cx="1298448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ausente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36976" y="1234440"/>
            <a:ext cx="1298448" cy="640080"/>
          </a:xfrm>
          <a:prstGeom prst="roundRect">
            <a:avLst>
              <a:gd name="adj" fmla="val 11429"/>
            </a:avLst>
          </a:prstGeom>
          <a:solidFill>
            <a:srgbClr val="0B3D3A"/>
          </a:solidFill>
          <a:ln w="12700">
            <a:solidFill>
              <a:srgbClr val="0B3D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36976" y="1234440"/>
            <a:ext cx="1298448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frameshift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26864" y="1234440"/>
            <a:ext cx="1298448" cy="640080"/>
          </a:xfrm>
          <a:prstGeom prst="roundRect">
            <a:avLst>
              <a:gd name="adj" fmla="val 11429"/>
            </a:avLst>
          </a:prstGeom>
          <a:solidFill>
            <a:srgbClr val="0B3D3A"/>
          </a:solidFill>
          <a:ln w="12700">
            <a:solidFill>
              <a:srgbClr val="0B3D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26864" y="1234440"/>
            <a:ext cx="1298448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ausente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16752" y="1234440"/>
            <a:ext cx="1298448" cy="640080"/>
          </a:xfrm>
          <a:prstGeom prst="roundRect">
            <a:avLst>
              <a:gd name="adj" fmla="val 11429"/>
            </a:avLst>
          </a:prstGeom>
          <a:solidFill>
            <a:srgbClr val="0B3D3A"/>
          </a:solidFill>
          <a:ln w="12700">
            <a:solidFill>
              <a:srgbClr val="0B3D3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016752" y="1234440"/>
            <a:ext cx="1298448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nonsense / STOP prematuro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406640" y="1234440"/>
            <a:ext cx="1298448" cy="640080"/>
          </a:xfrm>
          <a:prstGeom prst="roundRect">
            <a:avLst>
              <a:gd name="adj" fmla="val 11429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06640" y="1234440"/>
            <a:ext cx="1298448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CORRETO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1965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primeira condição satisfeita determina o resultado. Uma linha com vários problemas recebe o de maior precedência.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 frameshift vem antes do STOP ausente?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2926080"/>
            <a:ext cx="8229600" cy="749808"/>
          </a:xfrm>
          <a:prstGeom prst="roundRect">
            <a:avLst>
              <a:gd name="adj" fmla="val 9756"/>
            </a:avLst>
          </a:prstGeom>
          <a:solidFill>
            <a:srgbClr val="E6F2EF"/>
          </a:solidFill>
          <a:ln w="12700">
            <a:solidFill>
              <a:srgbClr val="E6F2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3172968"/>
            <a:ext cx="246888" cy="246888"/>
          </a:xfrm>
          <a:prstGeom prst="roundRect">
            <a:avLst>
              <a:gd name="adj" fmla="val 18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317296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810" dirty="0"/>
          </a:p>
        </p:txBody>
      </p:sp>
      <p:sp>
        <p:nvSpPr>
          <p:cNvPr id="20" name="Shape 18"/>
          <p:cNvSpPr/>
          <p:nvPr/>
        </p:nvSpPr>
        <p:spPr>
          <a:xfrm>
            <a:off x="916595" y="3172968"/>
            <a:ext cx="246888" cy="246888"/>
          </a:xfrm>
          <a:prstGeom prst="roundRect">
            <a:avLst>
              <a:gd name="adj" fmla="val 18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6595" y="317296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810" dirty="0"/>
          </a:p>
        </p:txBody>
      </p:sp>
      <p:sp>
        <p:nvSpPr>
          <p:cNvPr id="22" name="Shape 20"/>
          <p:cNvSpPr/>
          <p:nvPr/>
        </p:nvSpPr>
        <p:spPr>
          <a:xfrm>
            <a:off x="1193109" y="3172968"/>
            <a:ext cx="246888" cy="246888"/>
          </a:xfrm>
          <a:prstGeom prst="roundRect">
            <a:avLst>
              <a:gd name="adj" fmla="val 18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193109" y="317296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810" dirty="0"/>
          </a:p>
        </p:txBody>
      </p:sp>
      <p:sp>
        <p:nvSpPr>
          <p:cNvPr id="24" name="Shape 22"/>
          <p:cNvSpPr/>
          <p:nvPr/>
        </p:nvSpPr>
        <p:spPr>
          <a:xfrm>
            <a:off x="1469624" y="3172968"/>
            <a:ext cx="246888" cy="246888"/>
          </a:xfrm>
          <a:prstGeom prst="roundRect">
            <a:avLst>
              <a:gd name="adj" fmla="val 18000"/>
            </a:avLst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469624" y="317296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810" dirty="0"/>
          </a:p>
        </p:txBody>
      </p:sp>
      <p:sp>
        <p:nvSpPr>
          <p:cNvPr id="26" name="Shape 24"/>
          <p:cNvSpPr/>
          <p:nvPr/>
        </p:nvSpPr>
        <p:spPr>
          <a:xfrm>
            <a:off x="1746138" y="3172968"/>
            <a:ext cx="246888" cy="246888"/>
          </a:xfrm>
          <a:prstGeom prst="roundRect">
            <a:avLst>
              <a:gd name="adj" fmla="val 18000"/>
            </a:avLst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746138" y="317296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810" dirty="0"/>
          </a:p>
        </p:txBody>
      </p:sp>
      <p:sp>
        <p:nvSpPr>
          <p:cNvPr id="28" name="Shape 26"/>
          <p:cNvSpPr/>
          <p:nvPr/>
        </p:nvSpPr>
        <p:spPr>
          <a:xfrm>
            <a:off x="2022653" y="3172968"/>
            <a:ext cx="246888" cy="246888"/>
          </a:xfrm>
          <a:prstGeom prst="roundRect">
            <a:avLst>
              <a:gd name="adj" fmla="val 18000"/>
            </a:avLst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022653" y="317296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810" dirty="0"/>
          </a:p>
        </p:txBody>
      </p:sp>
      <p:sp>
        <p:nvSpPr>
          <p:cNvPr id="30" name="Shape 28"/>
          <p:cNvSpPr/>
          <p:nvPr/>
        </p:nvSpPr>
        <p:spPr>
          <a:xfrm>
            <a:off x="2299167" y="3172968"/>
            <a:ext cx="246888" cy="246888"/>
          </a:xfrm>
          <a:prstGeom prst="roundRect">
            <a:avLst>
              <a:gd name="adj" fmla="val 18000"/>
            </a:avLst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299167" y="317296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810" dirty="0"/>
          </a:p>
        </p:txBody>
      </p:sp>
      <p:sp>
        <p:nvSpPr>
          <p:cNvPr id="32" name="Shape 30"/>
          <p:cNvSpPr/>
          <p:nvPr/>
        </p:nvSpPr>
        <p:spPr>
          <a:xfrm>
            <a:off x="2575682" y="3172968"/>
            <a:ext cx="246888" cy="246888"/>
          </a:xfrm>
          <a:prstGeom prst="roundRect">
            <a:avLst>
              <a:gd name="adj" fmla="val 18000"/>
            </a:avLst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575682" y="317296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810" dirty="0"/>
          </a:p>
        </p:txBody>
      </p:sp>
      <p:sp>
        <p:nvSpPr>
          <p:cNvPr id="34" name="Shape 32"/>
          <p:cNvSpPr/>
          <p:nvPr/>
        </p:nvSpPr>
        <p:spPr>
          <a:xfrm>
            <a:off x="2852196" y="3172968"/>
            <a:ext cx="246888" cy="246888"/>
          </a:xfrm>
          <a:prstGeom prst="roundRect">
            <a:avLst>
              <a:gd name="adj" fmla="val 18000"/>
            </a:avLst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852196" y="317296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810" dirty="0"/>
          </a:p>
        </p:txBody>
      </p:sp>
      <p:sp>
        <p:nvSpPr>
          <p:cNvPr id="36" name="Shape 34"/>
          <p:cNvSpPr/>
          <p:nvPr/>
        </p:nvSpPr>
        <p:spPr>
          <a:xfrm>
            <a:off x="3128711" y="3172968"/>
            <a:ext cx="246888" cy="246888"/>
          </a:xfrm>
          <a:prstGeom prst="roundRect">
            <a:avLst>
              <a:gd name="adj" fmla="val 18000"/>
            </a:avLst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128711" y="317296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810" dirty="0"/>
          </a:p>
        </p:txBody>
      </p:sp>
      <p:sp>
        <p:nvSpPr>
          <p:cNvPr id="38" name="Shape 36"/>
          <p:cNvSpPr/>
          <p:nvPr/>
        </p:nvSpPr>
        <p:spPr>
          <a:xfrm>
            <a:off x="3405226" y="3172968"/>
            <a:ext cx="246888" cy="246888"/>
          </a:xfrm>
          <a:prstGeom prst="roundRect">
            <a:avLst>
              <a:gd name="adj" fmla="val 18000"/>
            </a:avLst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405226" y="317296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810" dirty="0"/>
          </a:p>
        </p:txBody>
      </p:sp>
      <p:sp>
        <p:nvSpPr>
          <p:cNvPr id="40" name="Shape 38"/>
          <p:cNvSpPr/>
          <p:nvPr/>
        </p:nvSpPr>
        <p:spPr>
          <a:xfrm>
            <a:off x="3681740" y="3172968"/>
            <a:ext cx="246888" cy="246888"/>
          </a:xfrm>
          <a:prstGeom prst="roundRect">
            <a:avLst>
              <a:gd name="adj" fmla="val 18000"/>
            </a:avLst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681740" y="317296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810" dirty="0"/>
          </a:p>
        </p:txBody>
      </p:sp>
      <p:sp>
        <p:nvSpPr>
          <p:cNvPr id="42" name="Shape 40"/>
          <p:cNvSpPr/>
          <p:nvPr/>
        </p:nvSpPr>
        <p:spPr>
          <a:xfrm>
            <a:off x="3958255" y="3172968"/>
            <a:ext cx="246888" cy="246888"/>
          </a:xfrm>
          <a:prstGeom prst="roundRect">
            <a:avLst>
              <a:gd name="adj" fmla="val 18000"/>
            </a:avLst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3958255" y="317296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810" dirty="0"/>
          </a:p>
        </p:txBody>
      </p:sp>
      <p:sp>
        <p:nvSpPr>
          <p:cNvPr id="44" name="Shape 42"/>
          <p:cNvSpPr/>
          <p:nvPr/>
        </p:nvSpPr>
        <p:spPr>
          <a:xfrm>
            <a:off x="4234769" y="3172968"/>
            <a:ext cx="246888" cy="246888"/>
          </a:xfrm>
          <a:prstGeom prst="roundRect">
            <a:avLst>
              <a:gd name="adj" fmla="val 18000"/>
            </a:avLst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234769" y="317296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810" dirty="0"/>
          </a:p>
        </p:txBody>
      </p:sp>
      <p:sp>
        <p:nvSpPr>
          <p:cNvPr id="46" name="Shape 44"/>
          <p:cNvSpPr/>
          <p:nvPr/>
        </p:nvSpPr>
        <p:spPr>
          <a:xfrm>
            <a:off x="4511284" y="3172968"/>
            <a:ext cx="246888" cy="246888"/>
          </a:xfrm>
          <a:prstGeom prst="roundRect">
            <a:avLst>
              <a:gd name="adj" fmla="val 18000"/>
            </a:avLst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4511284" y="317296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810" dirty="0"/>
          </a:p>
        </p:txBody>
      </p:sp>
      <p:sp>
        <p:nvSpPr>
          <p:cNvPr id="48" name="Text 46"/>
          <p:cNvSpPr txBox="1"/>
          <p:nvPr/>
        </p:nvSpPr>
        <p:spPr>
          <a:xfrm>
            <a:off x="5257800" y="297180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bases: as trincas fecham (ATG GCT AAA CCG GGC), mas nenhuma é STOP.</a:t>
            </a:r>
            <a:endParaRPr lang="en-US" sz="1050" dirty="0"/>
          </a:p>
        </p:txBody>
      </p:sp>
      <p:sp>
        <p:nvSpPr>
          <p:cNvPr id="49" name="Text 47"/>
          <p:cNvSpPr txBox="1"/>
          <p:nvPr/>
        </p:nvSpPr>
        <p:spPr>
          <a:xfrm>
            <a:off x="7589520" y="2971800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BUG - STOP ausente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57200" y="3794760"/>
            <a:ext cx="8229600" cy="749808"/>
          </a:xfrm>
          <a:prstGeom prst="roundRect">
            <a:avLst>
              <a:gd name="adj" fmla="val 9756"/>
            </a:avLst>
          </a:prstGeom>
          <a:solidFill>
            <a:srgbClr val="E6F2EF"/>
          </a:solidFill>
          <a:ln w="12700">
            <a:solidFill>
              <a:srgbClr val="E6F2E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40080" y="4041648"/>
            <a:ext cx="246888" cy="246888"/>
          </a:xfrm>
          <a:prstGeom prst="roundRect">
            <a:avLst>
              <a:gd name="adj" fmla="val 18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40080" y="404164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810" dirty="0"/>
          </a:p>
        </p:txBody>
      </p:sp>
      <p:sp>
        <p:nvSpPr>
          <p:cNvPr id="53" name="Shape 51"/>
          <p:cNvSpPr/>
          <p:nvPr/>
        </p:nvSpPr>
        <p:spPr>
          <a:xfrm>
            <a:off x="916595" y="4041648"/>
            <a:ext cx="246888" cy="246888"/>
          </a:xfrm>
          <a:prstGeom prst="roundRect">
            <a:avLst>
              <a:gd name="adj" fmla="val 18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916595" y="404164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810" dirty="0"/>
          </a:p>
        </p:txBody>
      </p:sp>
      <p:sp>
        <p:nvSpPr>
          <p:cNvPr id="55" name="Shape 53"/>
          <p:cNvSpPr/>
          <p:nvPr/>
        </p:nvSpPr>
        <p:spPr>
          <a:xfrm>
            <a:off x="1193109" y="4041648"/>
            <a:ext cx="246888" cy="246888"/>
          </a:xfrm>
          <a:prstGeom prst="roundRect">
            <a:avLst>
              <a:gd name="adj" fmla="val 18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1193109" y="404164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810" dirty="0"/>
          </a:p>
        </p:txBody>
      </p:sp>
      <p:sp>
        <p:nvSpPr>
          <p:cNvPr id="57" name="Shape 55"/>
          <p:cNvSpPr/>
          <p:nvPr/>
        </p:nvSpPr>
        <p:spPr>
          <a:xfrm>
            <a:off x="1469624" y="4041648"/>
            <a:ext cx="246888" cy="246888"/>
          </a:xfrm>
          <a:prstGeom prst="roundRect">
            <a:avLst>
              <a:gd name="adj" fmla="val 18000"/>
            </a:avLst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1469624" y="404164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810" dirty="0"/>
          </a:p>
        </p:txBody>
      </p:sp>
      <p:sp>
        <p:nvSpPr>
          <p:cNvPr id="59" name="Shape 57"/>
          <p:cNvSpPr/>
          <p:nvPr/>
        </p:nvSpPr>
        <p:spPr>
          <a:xfrm>
            <a:off x="1746138" y="4041648"/>
            <a:ext cx="246888" cy="246888"/>
          </a:xfrm>
          <a:prstGeom prst="roundRect">
            <a:avLst>
              <a:gd name="adj" fmla="val 18000"/>
            </a:avLst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1746138" y="404164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810" dirty="0"/>
          </a:p>
        </p:txBody>
      </p:sp>
      <p:sp>
        <p:nvSpPr>
          <p:cNvPr id="61" name="Shape 59"/>
          <p:cNvSpPr/>
          <p:nvPr/>
        </p:nvSpPr>
        <p:spPr>
          <a:xfrm>
            <a:off x="2022653" y="4041648"/>
            <a:ext cx="246888" cy="246888"/>
          </a:xfrm>
          <a:prstGeom prst="roundRect">
            <a:avLst>
              <a:gd name="adj" fmla="val 18000"/>
            </a:avLst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2022653" y="404164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810" dirty="0"/>
          </a:p>
        </p:txBody>
      </p:sp>
      <p:sp>
        <p:nvSpPr>
          <p:cNvPr id="63" name="Shape 61"/>
          <p:cNvSpPr/>
          <p:nvPr/>
        </p:nvSpPr>
        <p:spPr>
          <a:xfrm>
            <a:off x="2299167" y="4041648"/>
            <a:ext cx="246888" cy="246888"/>
          </a:xfrm>
          <a:prstGeom prst="roundRect">
            <a:avLst>
              <a:gd name="adj" fmla="val 18000"/>
            </a:avLst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2299167" y="404164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810" dirty="0"/>
          </a:p>
        </p:txBody>
      </p:sp>
      <p:sp>
        <p:nvSpPr>
          <p:cNvPr id="65" name="Shape 63"/>
          <p:cNvSpPr/>
          <p:nvPr/>
        </p:nvSpPr>
        <p:spPr>
          <a:xfrm>
            <a:off x="2575682" y="4041648"/>
            <a:ext cx="246888" cy="246888"/>
          </a:xfrm>
          <a:prstGeom prst="roundRect">
            <a:avLst>
              <a:gd name="adj" fmla="val 18000"/>
            </a:avLst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2575682" y="404164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810" dirty="0"/>
          </a:p>
        </p:txBody>
      </p:sp>
      <p:sp>
        <p:nvSpPr>
          <p:cNvPr id="67" name="Shape 65"/>
          <p:cNvSpPr/>
          <p:nvPr/>
        </p:nvSpPr>
        <p:spPr>
          <a:xfrm>
            <a:off x="2852196" y="4041648"/>
            <a:ext cx="246888" cy="246888"/>
          </a:xfrm>
          <a:prstGeom prst="roundRect">
            <a:avLst>
              <a:gd name="adj" fmla="val 18000"/>
            </a:avLst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2852196" y="404164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810" dirty="0"/>
          </a:p>
        </p:txBody>
      </p:sp>
      <p:sp>
        <p:nvSpPr>
          <p:cNvPr id="69" name="Shape 67"/>
          <p:cNvSpPr/>
          <p:nvPr/>
        </p:nvSpPr>
        <p:spPr>
          <a:xfrm>
            <a:off x="3128711" y="4041648"/>
            <a:ext cx="246888" cy="246888"/>
          </a:xfrm>
          <a:prstGeom prst="roundRect">
            <a:avLst>
              <a:gd name="adj" fmla="val 18000"/>
            </a:avLst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3128711" y="404164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810" dirty="0"/>
          </a:p>
        </p:txBody>
      </p:sp>
      <p:sp>
        <p:nvSpPr>
          <p:cNvPr id="71" name="Shape 69"/>
          <p:cNvSpPr/>
          <p:nvPr/>
        </p:nvSpPr>
        <p:spPr>
          <a:xfrm>
            <a:off x="3405226" y="4041648"/>
            <a:ext cx="246888" cy="246888"/>
          </a:xfrm>
          <a:prstGeom prst="roundRect">
            <a:avLst>
              <a:gd name="adj" fmla="val 18000"/>
            </a:avLst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3405226" y="404164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810" dirty="0"/>
          </a:p>
        </p:txBody>
      </p:sp>
      <p:sp>
        <p:nvSpPr>
          <p:cNvPr id="73" name="Shape 71"/>
          <p:cNvSpPr/>
          <p:nvPr/>
        </p:nvSpPr>
        <p:spPr>
          <a:xfrm>
            <a:off x="3681740" y="4041648"/>
            <a:ext cx="246888" cy="246888"/>
          </a:xfrm>
          <a:prstGeom prst="roundRect">
            <a:avLst>
              <a:gd name="adj" fmla="val 18000"/>
            </a:avLst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3681740" y="404164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810" dirty="0"/>
          </a:p>
        </p:txBody>
      </p:sp>
      <p:sp>
        <p:nvSpPr>
          <p:cNvPr id="75" name="Shape 73"/>
          <p:cNvSpPr/>
          <p:nvPr/>
        </p:nvSpPr>
        <p:spPr>
          <a:xfrm>
            <a:off x="3958255" y="4041648"/>
            <a:ext cx="246888" cy="246888"/>
          </a:xfrm>
          <a:prstGeom prst="roundRect">
            <a:avLst>
              <a:gd name="adj" fmla="val 18000"/>
            </a:avLst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3958255" y="404164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810" dirty="0"/>
          </a:p>
        </p:txBody>
      </p:sp>
      <p:sp>
        <p:nvSpPr>
          <p:cNvPr id="77" name="Shape 75"/>
          <p:cNvSpPr/>
          <p:nvPr/>
        </p:nvSpPr>
        <p:spPr>
          <a:xfrm>
            <a:off x="4234769" y="4041648"/>
            <a:ext cx="246888" cy="246888"/>
          </a:xfrm>
          <a:prstGeom prst="roundRect">
            <a:avLst>
              <a:gd name="adj" fmla="val 18000"/>
            </a:avLst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4234769" y="404164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810" dirty="0"/>
          </a:p>
        </p:txBody>
      </p:sp>
      <p:sp>
        <p:nvSpPr>
          <p:cNvPr id="79" name="Shape 77"/>
          <p:cNvSpPr/>
          <p:nvPr/>
        </p:nvSpPr>
        <p:spPr>
          <a:xfrm>
            <a:off x="4511284" y="4041648"/>
            <a:ext cx="246888" cy="246888"/>
          </a:xfrm>
          <a:prstGeom prst="roundRect">
            <a:avLst>
              <a:gd name="adj" fmla="val 18000"/>
            </a:avLst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4511284" y="404164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810" dirty="0"/>
          </a:p>
        </p:txBody>
      </p:sp>
      <p:sp>
        <p:nvSpPr>
          <p:cNvPr id="81" name="Shape 79"/>
          <p:cNvSpPr/>
          <p:nvPr/>
        </p:nvSpPr>
        <p:spPr>
          <a:xfrm>
            <a:off x="4787798" y="4041648"/>
            <a:ext cx="246888" cy="246888"/>
          </a:xfrm>
          <a:prstGeom prst="roundRect">
            <a:avLst>
              <a:gd name="adj" fmla="val 18000"/>
            </a:avLst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4787798" y="404164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810" dirty="0"/>
          </a:p>
        </p:txBody>
      </p:sp>
      <p:sp>
        <p:nvSpPr>
          <p:cNvPr id="83" name="Text 81"/>
          <p:cNvSpPr txBox="1"/>
          <p:nvPr/>
        </p:nvSpPr>
        <p:spPr>
          <a:xfrm>
            <a:off x="5257800" y="384048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bases: um A a mais empurra o TAA final para fora do quadro de leitura.</a:t>
            </a:r>
            <a:endParaRPr lang="en-US" sz="1050" dirty="0"/>
          </a:p>
        </p:txBody>
      </p:sp>
      <p:sp>
        <p:nvSpPr>
          <p:cNvPr id="84" name="Text 82"/>
          <p:cNvSpPr txBox="1"/>
          <p:nvPr/>
        </p:nvSpPr>
        <p:spPr>
          <a:xfrm>
            <a:off x="7589520" y="3840480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BUG - frameshift</a:t>
            </a:r>
            <a:endParaRPr lang="en-US" sz="900" dirty="0"/>
          </a:p>
        </p:txBody>
      </p:sp>
      <p:sp>
        <p:nvSpPr>
          <p:cNvPr id="85" name="Text 83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BioCompiler 1.0  ·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Arquitetura: um motor puro e duas interfaces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017520" y="1234440"/>
            <a:ext cx="3108960" cy="1828800"/>
          </a:xfrm>
          <a:prstGeom prst="roundRect">
            <a:avLst>
              <a:gd name="adj" fmla="val 5000"/>
            </a:avLst>
          </a:prstGeom>
          <a:solidFill>
            <a:srgbClr val="0B3D3A"/>
          </a:solidFill>
          <a:ln w="12700">
            <a:solidFill>
              <a:srgbClr val="0B3D3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3200400" y="1325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biocompiler_1.py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200400" y="1691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análise. Só biblioteca padrão, nada executa no import.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3200400" y="21945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analisar()  ·  validar_sequencia()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analisar_linha()  ·  processar_arquivo()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exportar_resultados()  ·  formatar_saida_tela()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2194560" cy="1828800"/>
          </a:xfrm>
          <a:prstGeom prst="roundRect">
            <a:avLst>
              <a:gd name="adj" fmla="val 4000"/>
            </a:avLst>
          </a:prstGeom>
          <a:solidFill>
            <a:srgbClr val="E6F2EF"/>
          </a:solidFill>
          <a:ln w="12700">
            <a:solidFill>
              <a:srgbClr val="E6F2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3258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de comando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6916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biocompiler_1.py entrada.txt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22402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na tela e resultados.txt no formato da spec.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92240" y="1234440"/>
            <a:ext cx="2194560" cy="1828800"/>
          </a:xfrm>
          <a:prstGeom prst="roundRect">
            <a:avLst>
              <a:gd name="adj" fmla="val 4000"/>
            </a:avLst>
          </a:prstGeom>
          <a:solidFill>
            <a:srgbClr val="E6F2EF"/>
          </a:solidFill>
          <a:ln w="12700">
            <a:solidFill>
              <a:srgbClr val="E6F2E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29400" y="13258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web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629400" y="1691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app.py (Streamlit)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6629400" y="20574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de .txt ou .csv, tabela, resumo por diagnóstico e download do resultados.txt.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611880"/>
            <a:ext cx="932688" cy="566928"/>
          </a:xfrm>
          <a:prstGeom prst="roundRect">
            <a:avLst>
              <a:gd name="adj" fmla="val 9677"/>
            </a:avLst>
          </a:prstGeom>
          <a:solidFill>
            <a:srgbClr val="CFE6DF"/>
          </a:solidFill>
          <a:ln w="12700">
            <a:solidFill>
              <a:srgbClr val="CFE6D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611880"/>
            <a:ext cx="932688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 linha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499616" y="3611880"/>
            <a:ext cx="932688" cy="566928"/>
          </a:xfrm>
          <a:prstGeom prst="roundRect">
            <a:avLst>
              <a:gd name="adj" fmla="val 9677"/>
            </a:avLst>
          </a:prstGeom>
          <a:solidFill>
            <a:srgbClr val="CFE6DF"/>
          </a:solidFill>
          <a:ln w="12700">
            <a:solidFill>
              <a:srgbClr val="CFE6D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499616" y="3611880"/>
            <a:ext cx="932688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bases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542032" y="3611880"/>
            <a:ext cx="932688" cy="566928"/>
          </a:xfrm>
          <a:prstGeom prst="roundRect">
            <a:avLst>
              <a:gd name="adj" fmla="val 9677"/>
            </a:avLst>
          </a:prstGeom>
          <a:solidFill>
            <a:srgbClr val="CFE6DF"/>
          </a:solidFill>
          <a:ln w="12700">
            <a:solidFill>
              <a:srgbClr val="CFE6D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542032" y="3611880"/>
            <a:ext cx="932688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LOCALIZAR START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584448" y="3611880"/>
            <a:ext cx="932688" cy="566928"/>
          </a:xfrm>
          <a:prstGeom prst="roundRect">
            <a:avLst>
              <a:gd name="adj" fmla="val 9677"/>
            </a:avLst>
          </a:prstGeom>
          <a:solidFill>
            <a:srgbClr val="CFE6DF"/>
          </a:solidFill>
          <a:ln w="12700">
            <a:solidFill>
              <a:srgbClr val="CFE6D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584448" y="3611880"/>
            <a:ext cx="932688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ANALISAR trincas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26864" y="3611880"/>
            <a:ext cx="932688" cy="566928"/>
          </a:xfrm>
          <a:prstGeom prst="roundRect">
            <a:avLst>
              <a:gd name="adj" fmla="val 9677"/>
            </a:avLst>
          </a:prstGeom>
          <a:solidFill>
            <a:srgbClr val="CFE6DF"/>
          </a:solidFill>
          <a:ln w="12700">
            <a:solidFill>
              <a:srgbClr val="CFE6D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626864" y="3611880"/>
            <a:ext cx="932688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LOCALIZAR STOP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669280" y="3611880"/>
            <a:ext cx="932688" cy="566928"/>
          </a:xfrm>
          <a:prstGeom prst="roundRect">
            <a:avLst>
              <a:gd name="adj" fmla="val 9677"/>
            </a:avLst>
          </a:prstGeom>
          <a:solidFill>
            <a:srgbClr val="CFE6DF"/>
          </a:solidFill>
          <a:ln w="12700">
            <a:solidFill>
              <a:srgbClr val="CFE6D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669280" y="3611880"/>
            <a:ext cx="932688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CLASSIFICAR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711696" y="3611880"/>
            <a:ext cx="932688" cy="566928"/>
          </a:xfrm>
          <a:prstGeom prst="roundRect">
            <a:avLst>
              <a:gd name="adj" fmla="val 9677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711696" y="3611880"/>
            <a:ext cx="932688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TRANSCREVER T→U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754112" y="3611880"/>
            <a:ext cx="932688" cy="566928"/>
          </a:xfrm>
          <a:prstGeom prst="roundRect">
            <a:avLst>
              <a:gd name="adj" fmla="val 9677"/>
            </a:avLst>
          </a:prstGeom>
          <a:solidFill>
            <a:srgbClr val="CFE6DF"/>
          </a:solidFill>
          <a:ln w="12700">
            <a:solidFill>
              <a:srgbClr val="CFE6D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54112" y="3611880"/>
            <a:ext cx="932688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GERAR relatório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do algoritmo (seção 13 da especificação). O passo de transcrição só ocorre se a classificação for CORRETO.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BioCompiler 1.0  · 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algoritmo: cinco verificações em sequência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5120640" cy="2926080"/>
          </a:xfrm>
          <a:prstGeom prst="rect">
            <a:avLst/>
          </a:prstGeom>
          <a:solidFill>
            <a:srgbClr val="E6F2EF"/>
          </a:solidFill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analisar(dna):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not dna or any(b not in BASES for b in dna):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BUG_BASE                       # caso 2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start = dna.find("ATG")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start == -1: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BUG_START                      # caso 3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(len(dna) - start) % 3 != 0: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BUG_FRAMESHIFT                 # caso 5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stop = encontrar_stop(dna, start)         # 1º STOP em fase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stop == -1: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BUG_STOP                       # caso 4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stop + 3 &lt; len(dna):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BUG_NONSENSE                   # caso 6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CORRETO                            # caso 1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pre_mRNA = dna.replace("T", "U")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852160" y="11430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linear
</a:t>
            </a:r>
            <a:pPr indent="0" marL="0">
              <a:buNone/>
            </a:pPr>
            <a:r>
              <a:rPr lang="en-US" sz="11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verificação percorre a string no máximo uma vez: O(n) por linha.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852160" y="20116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Quadro relativo ao START
</a:t>
            </a:r>
            <a:pPr indent="0" marL="0">
              <a:buNone/>
            </a:pPr>
            <a:r>
              <a:rPr lang="en-US" sz="11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frameshift olha (len - start) % 3, não o tamanho total: bases antes do ATG não contam.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852160" y="28803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em fase
</a:t>
            </a:r>
            <a:pPr indent="0" marL="0">
              <a:buNone/>
            </a:pPr>
            <a:r>
              <a:rPr lang="en-US" sz="11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busca avança de 3 em 3 a partir do START; um TAA fora de fase é ignorado, como manda a biologia.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37490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casos decorados
</a:t>
            </a:r>
            <a:pPr indent="0" marL="0">
              <a:buNone/>
            </a:pPr>
            <a:r>
              <a:rPr lang="en-US" sz="11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comparação com as entradas de exemplo: a classificação sai das regras.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BioCompiler 1.0  · 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3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 run app.py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384048" cy="384048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78308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Enviar entrada.txt com as seis sequências da especificação, uma por caso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384048" cy="384048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331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33172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Executar a análise e conferir a tabela: linha, entrada, status, resultado, pré-mRNA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880360"/>
            <a:ext cx="384048" cy="384048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88036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o resumo por diagnóstico e o relatório detalhado na tela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429000"/>
            <a:ext cx="384048" cy="384048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429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342900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Baixar resultados.txt e mostrar o formato linha;status;resultado;pre_mRNA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977640"/>
            <a:ext cx="384048" cy="384048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397764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Repetir na linha de comando: python biocompiler_1.py entrada.txt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BioCompiler 1.0  · 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Validação: da especificação para além dela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3383280"/>
          </a:xfrm>
          <a:prstGeom prst="roundRect">
            <a:avLst>
              <a:gd name="adj" fmla="val 2162"/>
            </a:avLst>
          </a:prstGeom>
          <a:solidFill>
            <a:srgbClr val="E6F2EF"/>
          </a:solidFill>
          <a:ln w="12700">
            <a:solidFill>
              <a:srgbClr val="E6F2E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da especificação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274320" cy="27432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783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73736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14.1 a 14.6
</a:t>
            </a:r>
            <a:pPr indent="0" marL="0">
              <a:buNone/>
            </a:pPr>
            <a:r>
              <a:rPr lang="en-US" sz="115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seis casos, tela e arquivo idênticos ao documento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651760"/>
            <a:ext cx="274320" cy="27432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651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260604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 2
</a:t>
            </a:r>
            <a:pPr indent="0" marL="0">
              <a:buNone/>
            </a:pPr>
            <a:r>
              <a:rPr lang="en-US" sz="115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três linhas de entrada.txt, todas com prefixo antes do ATG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3520440"/>
            <a:ext cx="274320" cy="27432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520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347472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 9 e 11
</a:t>
            </a:r>
            <a:pPr indent="0" marL="0">
              <a:buNone/>
            </a:pPr>
            <a:r>
              <a:rPr lang="en-US" sz="115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de tela e resultados.txt no formato pedido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663440" y="1188720"/>
            <a:ext cx="4023360" cy="3383280"/>
          </a:xfrm>
          <a:prstGeom prst="roundRect">
            <a:avLst>
              <a:gd name="adj" fmla="val 2162"/>
            </a:avLst>
          </a:prstGeom>
          <a:solidFill>
            <a:srgbClr val="E6F2EF"/>
          </a:solidFill>
          <a:ln w="12700">
            <a:solidFill>
              <a:srgbClr val="E6F2E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4632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Entradas fora da especificação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17373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CCATGGCTAAACCGTAA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6583680" y="17373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prefixo de 2 bases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7818120" y="17373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8B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CORRETO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226771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CATGGCTAAAACCGTAA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6583680" y="226771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prefixo + frameshift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7818120" y="226771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frameshift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279806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ATGGTAAGGTAA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6583680" y="2798064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TAA fora de fase é ignorado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7818120" y="279806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8B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CORRETO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4846320" y="332841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atggctaaaccgtaa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6583680" y="332841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minúsculas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7818120" y="332841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inválida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4846320" y="38587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(linha vazia)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6583680" y="385876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sequência vazia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7818120" y="385876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inválida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BioCompiler 1.0  · 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3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Limitações e próximos passos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51760" cy="2834640"/>
          </a:xfrm>
          <a:prstGeom prst="roundRect">
            <a:avLst>
              <a:gd name="adj" fmla="val 3448"/>
            </a:avLst>
          </a:prstGeom>
          <a:solidFill>
            <a:srgbClr val="124A46"/>
          </a:solidFill>
          <a:ln w="12700">
            <a:solidFill>
              <a:srgbClr val="124A4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Convenção vs biologia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20240"/>
            <a:ext cx="2286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F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Frameshift e STOP prematuro reais exigem comparação com uma sequência de referência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F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Aqui, ambos seguem a regra didática da atividade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F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1.0 não trata fita molde, promotores nem íntrons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46120" y="1188720"/>
            <a:ext cx="2651760" cy="2834640"/>
          </a:xfrm>
          <a:prstGeom prst="roundRect">
            <a:avLst>
              <a:gd name="adj" fmla="val 3448"/>
            </a:avLst>
          </a:prstGeom>
          <a:solidFill>
            <a:srgbClr val="124A46"/>
          </a:solidFill>
          <a:ln w="12700">
            <a:solidFill>
              <a:srgbClr val="124A4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29000" y="1371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1.0 entrega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920240"/>
            <a:ext cx="2286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F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puro, testável, sem dependências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F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e interface web sobre o mesmo motor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F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Saídas nos formatos das seções 9 e 11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1188720"/>
            <a:ext cx="2651760" cy="2834640"/>
          </a:xfrm>
          <a:prstGeom prst="roundRect">
            <a:avLst>
              <a:gd name="adj" fmla="val 3448"/>
            </a:avLst>
          </a:prstGeom>
          <a:solidFill>
            <a:srgbClr val="124A46"/>
          </a:solidFill>
          <a:ln w="12700">
            <a:solidFill>
              <a:srgbClr val="124A4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371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 BioCompiler 2.0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920240"/>
            <a:ext cx="2286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F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Receber o pré-mRNA e maturar: splicing, CAP 5', cauda poli-A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F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Reaproveitar o motor e o formato de arquivo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F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Depois, Sr. Ribossomo: tradução em proteína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F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Obrigado. Perguntas?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BioCompiler 1.0  · 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BioCompiler 1.0 - DNA Transcriber</dc:title>
  <dc:subject>PptxGenJS Presentation</dc:subject>
  <dc:creator>PptxGenJS</dc:creator>
  <cp:lastModifiedBy>PptxGenJS</cp:lastModifiedBy>
  <cp:revision>1</cp:revision>
  <dcterms:created xsi:type="dcterms:W3CDTF">2026-09-05T19:12:00Z</dcterms:created>
  <dcterms:modified xsi:type="dcterms:W3CDTF">2026-09-05T19:12:00Z</dcterms:modified>
</cp:coreProperties>
</file>