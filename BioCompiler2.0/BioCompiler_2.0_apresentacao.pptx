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BioCompiler 2.0 recebe o pré-mRNA que o 1.0 produziu, remove o íntron (splicing), e adiciona CAP 5' e cauda poli-A para gerar o mRNA maduro. As cores no slide antecipam o motivo visual da apresentação: cinza = éxon, verde = sítio 5' (GU), âmbar = branch point, violeta = interior do íntron, vermelho = sítio 3' (AG).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Situar o trabalho: três fases, cada uma com um software. O 2.0 cuida da maturação do RNA. A entrada dele é exatamente a saída do 1.0 (pré-mRNA).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gramática simplificada da seção 3 da spec. As três etapas mapeiam diretamente no algoritmo: reconhecimento dos sinais, splicing (remoção do íntron) e maturação (CAP + poli-A).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Entrada por upload ou colando texto — o app_2.py aceita as duas formas. Saída: um relatório de tela fiel ao formato da seção 9, e um botão de download que gera o resultados.txt no formato da seção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da seção 3 e 4: GU marca o início, AG marca o fim (o primeiro AG depois do GU, para não confundir com um AG de um éxon seguinte), e o branch point é um A cuja distância até o AG está entre 10 e 30 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completo do README, ponta a ponta: remoção do trecho GU...AG (inclusive), união dos éxons, e adição de CAP 5' e cauda poli-A. É o mesmo exemplo dos slides 1 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da seção 8, com exemplos reais testados contra o motor. Os blocos coloridos mostram exatamente o que o algoritmo reconhece em cada entrada: no caso 4, note o GU e o AG presentes, mas nenhum A colorido de âmbar — nenhum candidato caiu na janela de 10 a 30 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precedência é a mesma estrutura de cascata do BioCompiler 1.0. O ponto extra aqui: a regra do "GU falso", documentada no README com o exemplo da linha 14 da entrada oficial (UCUCCCCCCCCACCCCCCCCCCCCCCAGUCUCCC) — mencionar rapidamente, sem entrar em muito detalhe, só para mostrar que foi pensado além do que a spec exige.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motor não sabe nada de Streamlit: recebe uma string, devolve (diagnóstico, mRNA_maduro) ou (diagnóstico, None). Toda a apresentação — tela, tabela, exportação, diagnóstico passo a passo — é responsabilidade do app_2.py.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ao vivo. Ter o app já aberto no navegador e o arquivo de 40 casos à mão. O toggle "Mostrar diagnóstico detalhado por entrada" é um bom momento para abrir uma entrada de cada um dos 4 diagnósticos.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distribuição exata de 10 linhas por caso nos 40 casos oficiais foi conferida rodando o motor contra o arquivo — bate com o que o README afirma. Os limites do branch point (10/30 aceitos, 9/31 rejeitados) também foram testados diretamente.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sendo honesto sobre convenção vs biologia real, como no BioCompiler 1.0. Terminar apontando o que falta: a tradução em proteína, trabalho futuro do Sr. Ribossomo.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77240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56" dirty="0"/>
          </a:p>
        </p:txBody>
      </p:sp>
      <p:sp>
        <p:nvSpPr>
          <p:cNvPr id="5" name="Shape 3"/>
          <p:cNvSpPr/>
          <p:nvPr/>
        </p:nvSpPr>
        <p:spPr>
          <a:xfrm>
            <a:off x="1053755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3755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56" dirty="0"/>
          </a:p>
        </p:txBody>
      </p:sp>
      <p:sp>
        <p:nvSpPr>
          <p:cNvPr id="7" name="Shape 5"/>
          <p:cNvSpPr/>
          <p:nvPr/>
        </p:nvSpPr>
        <p:spPr>
          <a:xfrm>
            <a:off x="1330269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30269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756" dirty="0"/>
          </a:p>
        </p:txBody>
      </p:sp>
      <p:sp>
        <p:nvSpPr>
          <p:cNvPr id="9" name="Shape 7"/>
          <p:cNvSpPr/>
          <p:nvPr/>
        </p:nvSpPr>
        <p:spPr>
          <a:xfrm>
            <a:off x="1606784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06784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11" name="Shape 9"/>
          <p:cNvSpPr/>
          <p:nvPr/>
        </p:nvSpPr>
        <p:spPr>
          <a:xfrm>
            <a:off x="1883298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83298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56" dirty="0"/>
          </a:p>
        </p:txBody>
      </p:sp>
      <p:sp>
        <p:nvSpPr>
          <p:cNvPr id="13" name="Shape 11"/>
          <p:cNvSpPr/>
          <p:nvPr/>
        </p:nvSpPr>
        <p:spPr>
          <a:xfrm>
            <a:off x="2159813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59813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15" name="Shape 13"/>
          <p:cNvSpPr/>
          <p:nvPr/>
        </p:nvSpPr>
        <p:spPr>
          <a:xfrm>
            <a:off x="2436327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E0A339"/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36327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17" name="Shape 15"/>
          <p:cNvSpPr/>
          <p:nvPr/>
        </p:nvSpPr>
        <p:spPr>
          <a:xfrm>
            <a:off x="2712842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12842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19" name="Shape 17"/>
          <p:cNvSpPr/>
          <p:nvPr/>
        </p:nvSpPr>
        <p:spPr>
          <a:xfrm>
            <a:off x="2989356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89356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756" dirty="0"/>
          </a:p>
        </p:txBody>
      </p:sp>
      <p:sp>
        <p:nvSpPr>
          <p:cNvPr id="21" name="Shape 19"/>
          <p:cNvSpPr/>
          <p:nvPr/>
        </p:nvSpPr>
        <p:spPr>
          <a:xfrm>
            <a:off x="3265871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65871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756" dirty="0"/>
          </a:p>
        </p:txBody>
      </p:sp>
      <p:sp>
        <p:nvSpPr>
          <p:cNvPr id="23" name="Shape 21"/>
          <p:cNvSpPr/>
          <p:nvPr/>
        </p:nvSpPr>
        <p:spPr>
          <a:xfrm>
            <a:off x="3542386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42386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25" name="Shape 23"/>
          <p:cNvSpPr/>
          <p:nvPr/>
        </p:nvSpPr>
        <p:spPr>
          <a:xfrm>
            <a:off x="3818900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18900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27" name="Shape 25"/>
          <p:cNvSpPr/>
          <p:nvPr/>
        </p:nvSpPr>
        <p:spPr>
          <a:xfrm>
            <a:off x="4095415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095415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29" name="Shape 27"/>
          <p:cNvSpPr/>
          <p:nvPr/>
        </p:nvSpPr>
        <p:spPr>
          <a:xfrm>
            <a:off x="4371929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71929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31" name="Shape 29"/>
          <p:cNvSpPr/>
          <p:nvPr/>
        </p:nvSpPr>
        <p:spPr>
          <a:xfrm>
            <a:off x="4648444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48444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33" name="Shape 31"/>
          <p:cNvSpPr/>
          <p:nvPr/>
        </p:nvSpPr>
        <p:spPr>
          <a:xfrm>
            <a:off x="4924958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24958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756" dirty="0"/>
          </a:p>
        </p:txBody>
      </p:sp>
      <p:sp>
        <p:nvSpPr>
          <p:cNvPr id="35" name="Shape 33"/>
          <p:cNvSpPr/>
          <p:nvPr/>
        </p:nvSpPr>
        <p:spPr>
          <a:xfrm>
            <a:off x="5201473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01473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37" name="Shape 35"/>
          <p:cNvSpPr/>
          <p:nvPr/>
        </p:nvSpPr>
        <p:spPr>
          <a:xfrm>
            <a:off x="5477988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77988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39" name="Shape 37"/>
          <p:cNvSpPr/>
          <p:nvPr/>
        </p:nvSpPr>
        <p:spPr>
          <a:xfrm>
            <a:off x="5754502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54502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41" name="Shape 39"/>
          <p:cNvSpPr/>
          <p:nvPr/>
        </p:nvSpPr>
        <p:spPr>
          <a:xfrm>
            <a:off x="6031017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31017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756" dirty="0"/>
          </a:p>
        </p:txBody>
      </p:sp>
      <p:sp>
        <p:nvSpPr>
          <p:cNvPr id="43" name="Shape 41"/>
          <p:cNvSpPr/>
          <p:nvPr/>
        </p:nvSpPr>
        <p:spPr>
          <a:xfrm>
            <a:off x="6307531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07531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45" name="Shape 43"/>
          <p:cNvSpPr/>
          <p:nvPr/>
        </p:nvSpPr>
        <p:spPr>
          <a:xfrm>
            <a:off x="6584046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84046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47" name="Shape 45"/>
          <p:cNvSpPr/>
          <p:nvPr/>
        </p:nvSpPr>
        <p:spPr>
          <a:xfrm>
            <a:off x="6860560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60560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56" dirty="0"/>
          </a:p>
        </p:txBody>
      </p:sp>
      <p:sp>
        <p:nvSpPr>
          <p:cNvPr id="49" name="Shape 47"/>
          <p:cNvSpPr/>
          <p:nvPr/>
        </p:nvSpPr>
        <p:spPr>
          <a:xfrm>
            <a:off x="7137075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137075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51" name="Shape 49"/>
          <p:cNvSpPr/>
          <p:nvPr/>
        </p:nvSpPr>
        <p:spPr>
          <a:xfrm>
            <a:off x="7413589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13589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53" name="Shape 51"/>
          <p:cNvSpPr/>
          <p:nvPr/>
        </p:nvSpPr>
        <p:spPr>
          <a:xfrm>
            <a:off x="7690104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690104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56" dirty="0"/>
          </a:p>
        </p:txBody>
      </p:sp>
      <p:sp>
        <p:nvSpPr>
          <p:cNvPr id="55" name="Shape 53"/>
          <p:cNvSpPr/>
          <p:nvPr/>
        </p:nvSpPr>
        <p:spPr>
          <a:xfrm>
            <a:off x="7966619" y="484632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966619" y="484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56" dirty="0"/>
          </a:p>
        </p:txBody>
      </p:sp>
      <p:sp>
        <p:nvSpPr>
          <p:cNvPr id="57" name="Text 55"/>
          <p:cNvSpPr txBox="1"/>
          <p:nvPr/>
        </p:nvSpPr>
        <p:spPr>
          <a:xfrm>
            <a:off x="8288853" y="5486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</a:t>
            </a:r>
            <a:endParaRPr lang="en-US" sz="48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Processor: do pré-mRNA ao mRNA maduro</a:t>
            </a:r>
            <a:endParaRPr lang="en-US" sz="22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0A3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mRNA maduro:  m7Gppp + CCUAUGGCU + AUGGCCUAC + 100×A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em Bioinformática  ·  Ciência da Computação  ·  UFPI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2.0 entra no fluxo da informação genética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299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 codificante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13432" y="19202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578608" y="146304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E4DAF5"/>
          </a:solidFill>
          <a:ln w="12700">
            <a:solidFill>
              <a:srgbClr val="E4DA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15768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20299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→ pré-mRNA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9202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700016" y="146304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37176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37176" y="20299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pré-mRNA → mRNA maduro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(splicing, CAP 5', poli-A)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19202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821424" y="146304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E4DAF5"/>
          </a:solidFill>
          <a:ln w="12700">
            <a:solidFill>
              <a:srgbClr val="E4DA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58584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Ribossomo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0299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→ proteína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(tradução, trabalho futuro)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00016" y="3017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trabalho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520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da Fase II. </a:t>
            </a:r>
            <a:pPr indent="0" marL="0">
              <a:buNone/>
            </a:pPr>
            <a:r>
              <a:rPr lang="en-US" sz="13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2.0 recebe o pré-mRNA já validado pelo 1.0, reconhece e remove um íntron, une os éxons e adiciona CAP 5' e cauda poli-A. Termina no mRNA maduro: não traduz proteínas. A gramática do splicing também é didática — representa o conceito sem toda a complexidade biológica real.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leitura à maturação: três etapas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sinais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o primeiro GU (sítio 5'), o primeiro AG depois dele (sítio 3') e um A válido entre os dois.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sítio 5' · branch point · sítio 3'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17320"/>
            <a:ext cx="384048" cy="384048"/>
          </a:xfrm>
          <a:prstGeom prst="ellipse">
            <a:avLst/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o splicing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tudo entre o G do GU e o G do AG, inclusive, e unir os éxons adjacentes diretamente.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EXON1[...] EXON2 → EXON1EXON2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417320"/>
            <a:ext cx="384048" cy="384048"/>
          </a:xfrm>
          <a:prstGeom prst="ellipse">
            <a:avLst/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CAP e cauda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Acrescentar o marcador m7Gppp no início e exatamente 100 adeninas no final.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m7Gppp + éxons + 100×A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  ...  A  ...  AG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Íntron válido segundo a convenção didática — representa o splicing real sem toda a sua complexidade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saída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.txt, ou colar sequências direto na interface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sequência de pré-mRNA por linha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A, U, C, G — minúsculas são aceitas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é processada de forma independente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37560"/>
            <a:ext cx="356616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entrada.txt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CCUAUGGCUGUAACCUUUAACUAACAAGAUGGCCUAC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CCUAUGGCUCUAACCUUUAAACCUAACAGGAUGGCCUAC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CCUAUGGCUGUCCUUUCCUUCCUUCCAGGAUGGCCUAC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Saída, na interface web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no formato da especificação (seção 9)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057400"/>
            <a:ext cx="356616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ENTRADA: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CORRETO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Sítio 5':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point: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Sítio 3':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Splicing: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 5': ADICIONADA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Cauda poli-A: 100 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Download: resultados.txt (seção 11)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886200"/>
            <a:ext cx="35661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linha;status;resultado;mRNA_maduro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1;OK;CORRETO;m7GpppCCUAUGG…AAA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2;ERRO;BUG - sítio 5' ausente;NÃO GERADO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íntron é reconhecido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trecho da linha 1 da especificação (éxon1 ··· GU ··· A ··· AG ··· éxon2)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56" dirty="0"/>
          </a:p>
        </p:txBody>
      </p:sp>
      <p:sp>
        <p:nvSpPr>
          <p:cNvPr id="7" name="Shape 5"/>
          <p:cNvSpPr/>
          <p:nvPr/>
        </p:nvSpPr>
        <p:spPr>
          <a:xfrm>
            <a:off x="1053755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3755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56" dirty="0"/>
          </a:p>
        </p:txBody>
      </p:sp>
      <p:sp>
        <p:nvSpPr>
          <p:cNvPr id="9" name="Shape 7"/>
          <p:cNvSpPr/>
          <p:nvPr/>
        </p:nvSpPr>
        <p:spPr>
          <a:xfrm>
            <a:off x="1330269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30269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756" dirty="0"/>
          </a:p>
        </p:txBody>
      </p:sp>
      <p:sp>
        <p:nvSpPr>
          <p:cNvPr id="11" name="Shape 9"/>
          <p:cNvSpPr/>
          <p:nvPr/>
        </p:nvSpPr>
        <p:spPr>
          <a:xfrm>
            <a:off x="1606784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06784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13" name="Shape 11"/>
          <p:cNvSpPr/>
          <p:nvPr/>
        </p:nvSpPr>
        <p:spPr>
          <a:xfrm>
            <a:off x="1883298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83298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56" dirty="0"/>
          </a:p>
        </p:txBody>
      </p:sp>
      <p:sp>
        <p:nvSpPr>
          <p:cNvPr id="15" name="Shape 13"/>
          <p:cNvSpPr/>
          <p:nvPr/>
        </p:nvSpPr>
        <p:spPr>
          <a:xfrm>
            <a:off x="2159813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59813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17" name="Shape 15"/>
          <p:cNvSpPr/>
          <p:nvPr/>
        </p:nvSpPr>
        <p:spPr>
          <a:xfrm>
            <a:off x="2436327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E0A339"/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36327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19" name="Shape 17"/>
          <p:cNvSpPr/>
          <p:nvPr/>
        </p:nvSpPr>
        <p:spPr>
          <a:xfrm>
            <a:off x="2712842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12842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21" name="Shape 19"/>
          <p:cNvSpPr/>
          <p:nvPr/>
        </p:nvSpPr>
        <p:spPr>
          <a:xfrm>
            <a:off x="2989356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89356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756" dirty="0"/>
          </a:p>
        </p:txBody>
      </p:sp>
      <p:sp>
        <p:nvSpPr>
          <p:cNvPr id="23" name="Shape 21"/>
          <p:cNvSpPr/>
          <p:nvPr/>
        </p:nvSpPr>
        <p:spPr>
          <a:xfrm>
            <a:off x="3265871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65871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756" dirty="0"/>
          </a:p>
        </p:txBody>
      </p:sp>
      <p:sp>
        <p:nvSpPr>
          <p:cNvPr id="25" name="Shape 23"/>
          <p:cNvSpPr/>
          <p:nvPr/>
        </p:nvSpPr>
        <p:spPr>
          <a:xfrm>
            <a:off x="3542386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42386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27" name="Shape 25"/>
          <p:cNvSpPr/>
          <p:nvPr/>
        </p:nvSpPr>
        <p:spPr>
          <a:xfrm>
            <a:off x="3818900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18900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29" name="Shape 27"/>
          <p:cNvSpPr/>
          <p:nvPr/>
        </p:nvSpPr>
        <p:spPr>
          <a:xfrm>
            <a:off x="4095415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95415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31" name="Shape 29"/>
          <p:cNvSpPr/>
          <p:nvPr/>
        </p:nvSpPr>
        <p:spPr>
          <a:xfrm>
            <a:off x="4371929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71929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33" name="Shape 31"/>
          <p:cNvSpPr/>
          <p:nvPr/>
        </p:nvSpPr>
        <p:spPr>
          <a:xfrm>
            <a:off x="4648444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48444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35" name="Shape 33"/>
          <p:cNvSpPr/>
          <p:nvPr/>
        </p:nvSpPr>
        <p:spPr>
          <a:xfrm>
            <a:off x="4924958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24958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756" dirty="0"/>
          </a:p>
        </p:txBody>
      </p:sp>
      <p:sp>
        <p:nvSpPr>
          <p:cNvPr id="37" name="Shape 35"/>
          <p:cNvSpPr/>
          <p:nvPr/>
        </p:nvSpPr>
        <p:spPr>
          <a:xfrm>
            <a:off x="5201473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01473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39" name="Shape 37"/>
          <p:cNvSpPr/>
          <p:nvPr/>
        </p:nvSpPr>
        <p:spPr>
          <a:xfrm>
            <a:off x="5477988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77988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41" name="Shape 39"/>
          <p:cNvSpPr/>
          <p:nvPr/>
        </p:nvSpPr>
        <p:spPr>
          <a:xfrm>
            <a:off x="5754502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754502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43" name="Shape 41"/>
          <p:cNvSpPr/>
          <p:nvPr/>
        </p:nvSpPr>
        <p:spPr>
          <a:xfrm>
            <a:off x="6031017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031017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756" dirty="0"/>
          </a:p>
        </p:txBody>
      </p:sp>
      <p:sp>
        <p:nvSpPr>
          <p:cNvPr id="45" name="Shape 43"/>
          <p:cNvSpPr/>
          <p:nvPr/>
        </p:nvSpPr>
        <p:spPr>
          <a:xfrm>
            <a:off x="6307531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07531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47" name="Shape 45"/>
          <p:cNvSpPr/>
          <p:nvPr/>
        </p:nvSpPr>
        <p:spPr>
          <a:xfrm>
            <a:off x="6584046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84046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49" name="Shape 47"/>
          <p:cNvSpPr/>
          <p:nvPr/>
        </p:nvSpPr>
        <p:spPr>
          <a:xfrm>
            <a:off x="6860560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60560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56" dirty="0"/>
          </a:p>
        </p:txBody>
      </p:sp>
      <p:sp>
        <p:nvSpPr>
          <p:cNvPr id="51" name="Shape 49"/>
          <p:cNvSpPr/>
          <p:nvPr/>
        </p:nvSpPr>
        <p:spPr>
          <a:xfrm>
            <a:off x="7137075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137075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756" dirty="0"/>
          </a:p>
        </p:txBody>
      </p:sp>
      <p:sp>
        <p:nvSpPr>
          <p:cNvPr id="53" name="Shape 51"/>
          <p:cNvSpPr/>
          <p:nvPr/>
        </p:nvSpPr>
        <p:spPr>
          <a:xfrm>
            <a:off x="7413589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413589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756" dirty="0"/>
          </a:p>
        </p:txBody>
      </p:sp>
      <p:sp>
        <p:nvSpPr>
          <p:cNvPr id="55" name="Shape 53"/>
          <p:cNvSpPr/>
          <p:nvPr/>
        </p:nvSpPr>
        <p:spPr>
          <a:xfrm>
            <a:off x="7690104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690104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56" dirty="0"/>
          </a:p>
        </p:txBody>
      </p:sp>
      <p:sp>
        <p:nvSpPr>
          <p:cNvPr id="57" name="Shape 55"/>
          <p:cNvSpPr/>
          <p:nvPr/>
        </p:nvSpPr>
        <p:spPr>
          <a:xfrm>
            <a:off x="7966619" y="1371600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966619" y="1371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56" dirty="0"/>
          </a:p>
        </p:txBody>
      </p:sp>
      <p:sp>
        <p:nvSpPr>
          <p:cNvPr id="59" name="Text 57"/>
          <p:cNvSpPr txBox="1"/>
          <p:nvPr/>
        </p:nvSpPr>
        <p:spPr>
          <a:xfrm>
            <a:off x="8288853" y="14173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57200" y="217627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14400" y="214884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Éxon  </a:t>
            </a:r>
            <a:pPr indent="0" marL="0">
              <a:buNone/>
            </a:pPr>
            <a:r>
              <a:rPr lang="en-US" sz="12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íntron, preservado no mRNA final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457200" y="267919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14400" y="265176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Sítio 5' (GU)  </a:t>
            </a:r>
            <a:pPr indent="0" marL="0">
              <a:buNone/>
            </a:pPr>
            <a:r>
              <a:rPr lang="en-US" sz="12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GU da sequência — início do íntron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457200" y="318211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0A339"/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14400" y="31546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point (A)  </a:t>
            </a:r>
            <a:pPr indent="0" marL="0">
              <a:buNone/>
            </a:pPr>
            <a:r>
              <a:rPr lang="en-US" sz="12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10 e 30 nt antes do AG, inclusive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457200" y="368503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14400" y="36576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do íntron  </a:t>
            </a:r>
            <a:pPr indent="0" marL="0">
              <a:buNone/>
            </a:pPr>
            <a:r>
              <a:rPr lang="en-US" sz="12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bases entre o GU e o AG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457200" y="41879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14400" y="41605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Sítio 3' (AG)  </a:t>
            </a:r>
            <a:pPr indent="0" marL="0">
              <a:buNone/>
            </a:pPr>
            <a:r>
              <a:rPr lang="en-US" sz="12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AG depois do GU — fim do íntron</a:t>
            </a:r>
            <a:endParaRPr lang="en-US" sz="1250" dirty="0"/>
          </a:p>
        </p:txBody>
      </p:sp>
      <p:sp>
        <p:nvSpPr>
          <p:cNvPr id="70" name="Text 6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de splicing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7863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CCUAUGGCU  [ GUAACCUUUAACUAACAAG ]  AUGGCCUAC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éxon 1           íntron: GU ··· A(15nt) ··· AG           éxon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4DAF5"/>
          </a:solidFill>
          <a:ln w="12700">
            <a:solidFill>
              <a:srgbClr val="E4DA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95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SPLICING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CCUAUGGCU + AUGGCCUAC  =  CCUAUGGCUAUGGCCUAC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319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MADURO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m7Gppp + CCUAUGGCUAUGGCCUAC + AAAAAAAAAA··· (100×A)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5'                éxons unidos                         cauda poli-A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casos que o programa reconhece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7492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960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esperada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841248"/>
          </a:xfrm>
          <a:prstGeom prst="rect">
            <a:avLst/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08760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2" name="Shape 10"/>
          <p:cNvSpPr/>
          <p:nvPr/>
        </p:nvSpPr>
        <p:spPr>
          <a:xfrm>
            <a:off x="1241024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41024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4" name="Shape 12"/>
          <p:cNvSpPr/>
          <p:nvPr/>
        </p:nvSpPr>
        <p:spPr>
          <a:xfrm>
            <a:off x="1430487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30487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6" name="Shape 14"/>
          <p:cNvSpPr/>
          <p:nvPr/>
        </p:nvSpPr>
        <p:spPr>
          <a:xfrm>
            <a:off x="1619951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19951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8" dirty="0"/>
          </a:p>
        </p:txBody>
      </p:sp>
      <p:sp>
        <p:nvSpPr>
          <p:cNvPr id="18" name="Shape 16"/>
          <p:cNvSpPr/>
          <p:nvPr/>
        </p:nvSpPr>
        <p:spPr>
          <a:xfrm>
            <a:off x="1809415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09415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518" dirty="0"/>
          </a:p>
        </p:txBody>
      </p:sp>
      <p:sp>
        <p:nvSpPr>
          <p:cNvPr id="20" name="Shape 18"/>
          <p:cNvSpPr/>
          <p:nvPr/>
        </p:nvSpPr>
        <p:spPr>
          <a:xfrm>
            <a:off x="1998878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98878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22" name="Shape 20"/>
          <p:cNvSpPr/>
          <p:nvPr/>
        </p:nvSpPr>
        <p:spPr>
          <a:xfrm>
            <a:off x="2188342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88342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24" name="Shape 22"/>
          <p:cNvSpPr/>
          <p:nvPr/>
        </p:nvSpPr>
        <p:spPr>
          <a:xfrm>
            <a:off x="2377806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77806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26" name="Shape 24"/>
          <p:cNvSpPr/>
          <p:nvPr/>
        </p:nvSpPr>
        <p:spPr>
          <a:xfrm>
            <a:off x="2567269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E0A339"/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67269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8" dirty="0"/>
          </a:p>
        </p:txBody>
      </p:sp>
      <p:sp>
        <p:nvSpPr>
          <p:cNvPr id="28" name="Shape 26"/>
          <p:cNvSpPr/>
          <p:nvPr/>
        </p:nvSpPr>
        <p:spPr>
          <a:xfrm>
            <a:off x="2756733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56733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30" name="Shape 28"/>
          <p:cNvSpPr/>
          <p:nvPr/>
        </p:nvSpPr>
        <p:spPr>
          <a:xfrm>
            <a:off x="2946197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46197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32" name="Shape 30"/>
          <p:cNvSpPr/>
          <p:nvPr/>
        </p:nvSpPr>
        <p:spPr>
          <a:xfrm>
            <a:off x="3135660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135660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34" name="Shape 32"/>
          <p:cNvSpPr/>
          <p:nvPr/>
        </p:nvSpPr>
        <p:spPr>
          <a:xfrm>
            <a:off x="3325124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325124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36" name="Shape 34"/>
          <p:cNvSpPr/>
          <p:nvPr/>
        </p:nvSpPr>
        <p:spPr>
          <a:xfrm>
            <a:off x="3514588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14588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38" name="Shape 36"/>
          <p:cNvSpPr/>
          <p:nvPr/>
        </p:nvSpPr>
        <p:spPr>
          <a:xfrm>
            <a:off x="3704052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04052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40" name="Shape 38"/>
          <p:cNvSpPr/>
          <p:nvPr/>
        </p:nvSpPr>
        <p:spPr>
          <a:xfrm>
            <a:off x="3893515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93515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42" name="Shape 40"/>
          <p:cNvSpPr/>
          <p:nvPr/>
        </p:nvSpPr>
        <p:spPr>
          <a:xfrm>
            <a:off x="4082979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82979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44" name="Shape 42"/>
          <p:cNvSpPr/>
          <p:nvPr/>
        </p:nvSpPr>
        <p:spPr>
          <a:xfrm>
            <a:off x="4272443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272443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46" name="Shape 44"/>
          <p:cNvSpPr/>
          <p:nvPr/>
        </p:nvSpPr>
        <p:spPr>
          <a:xfrm>
            <a:off x="4461906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461906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48" name="Shape 46"/>
          <p:cNvSpPr/>
          <p:nvPr/>
        </p:nvSpPr>
        <p:spPr>
          <a:xfrm>
            <a:off x="4651370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651370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50" name="Shape 48"/>
          <p:cNvSpPr/>
          <p:nvPr/>
        </p:nvSpPr>
        <p:spPr>
          <a:xfrm>
            <a:off x="4840834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840834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8" dirty="0"/>
          </a:p>
        </p:txBody>
      </p:sp>
      <p:sp>
        <p:nvSpPr>
          <p:cNvPr id="52" name="Shape 50"/>
          <p:cNvSpPr/>
          <p:nvPr/>
        </p:nvSpPr>
        <p:spPr>
          <a:xfrm>
            <a:off x="5030297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030297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8" dirty="0"/>
          </a:p>
        </p:txBody>
      </p:sp>
      <p:sp>
        <p:nvSpPr>
          <p:cNvPr id="54" name="Shape 52"/>
          <p:cNvSpPr/>
          <p:nvPr/>
        </p:nvSpPr>
        <p:spPr>
          <a:xfrm>
            <a:off x="5219761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219761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56" name="Shape 54"/>
          <p:cNvSpPr/>
          <p:nvPr/>
        </p:nvSpPr>
        <p:spPr>
          <a:xfrm>
            <a:off x="5409225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09225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58" name="Shape 56"/>
          <p:cNvSpPr/>
          <p:nvPr/>
        </p:nvSpPr>
        <p:spPr>
          <a:xfrm>
            <a:off x="5598688" y="1417320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598688" y="1417320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60" name="Text 58"/>
          <p:cNvSpPr txBox="1"/>
          <p:nvPr/>
        </p:nvSpPr>
        <p:spPr>
          <a:xfrm>
            <a:off x="5074920" y="128016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 ... A (branch válido) ... AG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7178040" y="1280160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CORRETO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48640" y="2350008"/>
            <a:ext cx="347472" cy="347472"/>
          </a:xfrm>
          <a:prstGeom prst="ellipse">
            <a:avLst/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4864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1051560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51560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66" name="Shape 64"/>
          <p:cNvSpPr/>
          <p:nvPr/>
        </p:nvSpPr>
        <p:spPr>
          <a:xfrm>
            <a:off x="1241024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241024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68" name="Shape 66"/>
          <p:cNvSpPr/>
          <p:nvPr/>
        </p:nvSpPr>
        <p:spPr>
          <a:xfrm>
            <a:off x="1430487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430487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70" name="Shape 68"/>
          <p:cNvSpPr/>
          <p:nvPr/>
        </p:nvSpPr>
        <p:spPr>
          <a:xfrm>
            <a:off x="1619951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619951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72" name="Shape 70"/>
          <p:cNvSpPr/>
          <p:nvPr/>
        </p:nvSpPr>
        <p:spPr>
          <a:xfrm>
            <a:off x="1809415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809415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74" name="Shape 72"/>
          <p:cNvSpPr/>
          <p:nvPr/>
        </p:nvSpPr>
        <p:spPr>
          <a:xfrm>
            <a:off x="1998878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998878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76" name="Shape 74"/>
          <p:cNvSpPr/>
          <p:nvPr/>
        </p:nvSpPr>
        <p:spPr>
          <a:xfrm>
            <a:off x="2188342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2188342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78" name="Shape 76"/>
          <p:cNvSpPr/>
          <p:nvPr/>
        </p:nvSpPr>
        <p:spPr>
          <a:xfrm>
            <a:off x="2377806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377806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80" name="Shape 78"/>
          <p:cNvSpPr/>
          <p:nvPr/>
        </p:nvSpPr>
        <p:spPr>
          <a:xfrm>
            <a:off x="2567269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2567269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8" dirty="0"/>
          </a:p>
        </p:txBody>
      </p:sp>
      <p:sp>
        <p:nvSpPr>
          <p:cNvPr id="82" name="Shape 80"/>
          <p:cNvSpPr/>
          <p:nvPr/>
        </p:nvSpPr>
        <p:spPr>
          <a:xfrm>
            <a:off x="2756733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756733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8" dirty="0"/>
          </a:p>
        </p:txBody>
      </p:sp>
      <p:sp>
        <p:nvSpPr>
          <p:cNvPr id="84" name="Shape 82"/>
          <p:cNvSpPr/>
          <p:nvPr/>
        </p:nvSpPr>
        <p:spPr>
          <a:xfrm>
            <a:off x="2946197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2946197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86" name="Shape 84"/>
          <p:cNvSpPr/>
          <p:nvPr/>
        </p:nvSpPr>
        <p:spPr>
          <a:xfrm>
            <a:off x="3135660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3135660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88" name="Shape 86"/>
          <p:cNvSpPr/>
          <p:nvPr/>
        </p:nvSpPr>
        <p:spPr>
          <a:xfrm>
            <a:off x="3325124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3325124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90" name="Shape 88"/>
          <p:cNvSpPr/>
          <p:nvPr/>
        </p:nvSpPr>
        <p:spPr>
          <a:xfrm>
            <a:off x="3514588" y="2258568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3514588" y="2258568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92" name="Text 90"/>
          <p:cNvSpPr txBox="1"/>
          <p:nvPr/>
        </p:nvSpPr>
        <p:spPr>
          <a:xfrm>
            <a:off x="5074920" y="212140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AG, mas não existe GU anterior</a:t>
            </a:r>
            <a:endParaRPr lang="en-US" sz="1050" dirty="0"/>
          </a:p>
        </p:txBody>
      </p:sp>
      <p:sp>
        <p:nvSpPr>
          <p:cNvPr id="93" name="Text 91"/>
          <p:cNvSpPr txBox="1"/>
          <p:nvPr/>
        </p:nvSpPr>
        <p:spPr>
          <a:xfrm>
            <a:off x="7178040" y="2121408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sítio 5' ausente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57200" y="2962656"/>
            <a:ext cx="8229600" cy="841248"/>
          </a:xfrm>
          <a:prstGeom prst="rect">
            <a:avLst/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48640" y="3191256"/>
            <a:ext cx="347472" cy="347472"/>
          </a:xfrm>
          <a:prstGeom prst="ellipse">
            <a:avLst/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4864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1051560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051560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99" name="Shape 97"/>
          <p:cNvSpPr/>
          <p:nvPr/>
        </p:nvSpPr>
        <p:spPr>
          <a:xfrm>
            <a:off x="1241024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241024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01" name="Shape 99"/>
          <p:cNvSpPr/>
          <p:nvPr/>
        </p:nvSpPr>
        <p:spPr>
          <a:xfrm>
            <a:off x="1430487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430487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03" name="Shape 101"/>
          <p:cNvSpPr/>
          <p:nvPr/>
        </p:nvSpPr>
        <p:spPr>
          <a:xfrm>
            <a:off x="1619951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619951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8" dirty="0"/>
          </a:p>
        </p:txBody>
      </p:sp>
      <p:sp>
        <p:nvSpPr>
          <p:cNvPr id="105" name="Shape 103"/>
          <p:cNvSpPr/>
          <p:nvPr/>
        </p:nvSpPr>
        <p:spPr>
          <a:xfrm>
            <a:off x="1809415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809415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518" dirty="0"/>
          </a:p>
        </p:txBody>
      </p:sp>
      <p:sp>
        <p:nvSpPr>
          <p:cNvPr id="107" name="Shape 105"/>
          <p:cNvSpPr/>
          <p:nvPr/>
        </p:nvSpPr>
        <p:spPr>
          <a:xfrm>
            <a:off x="1998878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1998878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09" name="Shape 107"/>
          <p:cNvSpPr/>
          <p:nvPr/>
        </p:nvSpPr>
        <p:spPr>
          <a:xfrm>
            <a:off x="2188342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2188342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11" name="Shape 109"/>
          <p:cNvSpPr/>
          <p:nvPr/>
        </p:nvSpPr>
        <p:spPr>
          <a:xfrm>
            <a:off x="2377806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2377806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13" name="Shape 111"/>
          <p:cNvSpPr/>
          <p:nvPr/>
        </p:nvSpPr>
        <p:spPr>
          <a:xfrm>
            <a:off x="2567269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2567269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15" name="Shape 113"/>
          <p:cNvSpPr/>
          <p:nvPr/>
        </p:nvSpPr>
        <p:spPr>
          <a:xfrm>
            <a:off x="2756733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2756733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17" name="Shape 115"/>
          <p:cNvSpPr/>
          <p:nvPr/>
        </p:nvSpPr>
        <p:spPr>
          <a:xfrm>
            <a:off x="2946197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2946197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19" name="Shape 117"/>
          <p:cNvSpPr/>
          <p:nvPr/>
        </p:nvSpPr>
        <p:spPr>
          <a:xfrm>
            <a:off x="3135660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3135660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21" name="Shape 119"/>
          <p:cNvSpPr/>
          <p:nvPr/>
        </p:nvSpPr>
        <p:spPr>
          <a:xfrm>
            <a:off x="3325124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3325124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23" name="Shape 121"/>
          <p:cNvSpPr/>
          <p:nvPr/>
        </p:nvSpPr>
        <p:spPr>
          <a:xfrm>
            <a:off x="3514588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3514588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25" name="Shape 123"/>
          <p:cNvSpPr/>
          <p:nvPr/>
        </p:nvSpPr>
        <p:spPr>
          <a:xfrm>
            <a:off x="3704052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3704052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27" name="Shape 125"/>
          <p:cNvSpPr/>
          <p:nvPr/>
        </p:nvSpPr>
        <p:spPr>
          <a:xfrm>
            <a:off x="3893515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3893515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29" name="Shape 127"/>
          <p:cNvSpPr/>
          <p:nvPr/>
        </p:nvSpPr>
        <p:spPr>
          <a:xfrm>
            <a:off x="4082979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4082979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31" name="Shape 129"/>
          <p:cNvSpPr/>
          <p:nvPr/>
        </p:nvSpPr>
        <p:spPr>
          <a:xfrm>
            <a:off x="4272443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4272443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33" name="Shape 131"/>
          <p:cNvSpPr/>
          <p:nvPr/>
        </p:nvSpPr>
        <p:spPr>
          <a:xfrm>
            <a:off x="4461906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4461906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35" name="Shape 133"/>
          <p:cNvSpPr/>
          <p:nvPr/>
        </p:nvSpPr>
        <p:spPr>
          <a:xfrm>
            <a:off x="4651370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4651370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37" name="Shape 135"/>
          <p:cNvSpPr/>
          <p:nvPr/>
        </p:nvSpPr>
        <p:spPr>
          <a:xfrm>
            <a:off x="4840834" y="3099816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4840834" y="3099816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39" name="Text 137"/>
          <p:cNvSpPr txBox="1"/>
          <p:nvPr/>
        </p:nvSpPr>
        <p:spPr>
          <a:xfrm>
            <a:off x="5074920" y="2962656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GU, mas não existe AG posterior</a:t>
            </a:r>
            <a:endParaRPr lang="en-US" sz="1050" dirty="0"/>
          </a:p>
        </p:txBody>
      </p:sp>
      <p:sp>
        <p:nvSpPr>
          <p:cNvPr id="140" name="Text 138"/>
          <p:cNvSpPr txBox="1"/>
          <p:nvPr/>
        </p:nvSpPr>
        <p:spPr>
          <a:xfrm>
            <a:off x="7178040" y="2962656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sítio 3' ausente</a:t>
            </a: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548640" y="4032504"/>
            <a:ext cx="347472" cy="347472"/>
          </a:xfrm>
          <a:prstGeom prst="ellipse">
            <a:avLst/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54864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3" name="Shape 141"/>
          <p:cNvSpPr/>
          <p:nvPr/>
        </p:nvSpPr>
        <p:spPr>
          <a:xfrm>
            <a:off x="1051560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1051560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45" name="Shape 143"/>
          <p:cNvSpPr/>
          <p:nvPr/>
        </p:nvSpPr>
        <p:spPr>
          <a:xfrm>
            <a:off x="1241024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1241024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47" name="Shape 145"/>
          <p:cNvSpPr/>
          <p:nvPr/>
        </p:nvSpPr>
        <p:spPr>
          <a:xfrm>
            <a:off x="1430487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1430487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49" name="Shape 147"/>
          <p:cNvSpPr/>
          <p:nvPr/>
        </p:nvSpPr>
        <p:spPr>
          <a:xfrm>
            <a:off x="1619951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1619951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8" dirty="0"/>
          </a:p>
        </p:txBody>
      </p:sp>
      <p:sp>
        <p:nvSpPr>
          <p:cNvPr id="151" name="Shape 149"/>
          <p:cNvSpPr/>
          <p:nvPr/>
        </p:nvSpPr>
        <p:spPr>
          <a:xfrm>
            <a:off x="1809415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1809415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518" dirty="0"/>
          </a:p>
        </p:txBody>
      </p:sp>
      <p:sp>
        <p:nvSpPr>
          <p:cNvPr id="153" name="Shape 151"/>
          <p:cNvSpPr/>
          <p:nvPr/>
        </p:nvSpPr>
        <p:spPr>
          <a:xfrm>
            <a:off x="1998878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1998878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55" name="Shape 153"/>
          <p:cNvSpPr/>
          <p:nvPr/>
        </p:nvSpPr>
        <p:spPr>
          <a:xfrm>
            <a:off x="2188342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2188342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57" name="Shape 155"/>
          <p:cNvSpPr/>
          <p:nvPr/>
        </p:nvSpPr>
        <p:spPr>
          <a:xfrm>
            <a:off x="2377806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2377806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59" name="Shape 157"/>
          <p:cNvSpPr/>
          <p:nvPr/>
        </p:nvSpPr>
        <p:spPr>
          <a:xfrm>
            <a:off x="2567269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2567269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61" name="Shape 159"/>
          <p:cNvSpPr/>
          <p:nvPr/>
        </p:nvSpPr>
        <p:spPr>
          <a:xfrm>
            <a:off x="2756733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2756733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63" name="Shape 161"/>
          <p:cNvSpPr/>
          <p:nvPr/>
        </p:nvSpPr>
        <p:spPr>
          <a:xfrm>
            <a:off x="2946197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2946197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65" name="Shape 163"/>
          <p:cNvSpPr/>
          <p:nvPr/>
        </p:nvSpPr>
        <p:spPr>
          <a:xfrm>
            <a:off x="3135660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3135660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67" name="Shape 165"/>
          <p:cNvSpPr/>
          <p:nvPr/>
        </p:nvSpPr>
        <p:spPr>
          <a:xfrm>
            <a:off x="3325124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3325124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8" dirty="0"/>
          </a:p>
        </p:txBody>
      </p:sp>
      <p:sp>
        <p:nvSpPr>
          <p:cNvPr id="169" name="Shape 167"/>
          <p:cNvSpPr/>
          <p:nvPr/>
        </p:nvSpPr>
        <p:spPr>
          <a:xfrm>
            <a:off x="3514588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3514588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71" name="Shape 169"/>
          <p:cNvSpPr/>
          <p:nvPr/>
        </p:nvSpPr>
        <p:spPr>
          <a:xfrm>
            <a:off x="3704052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3704052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73" name="Shape 171"/>
          <p:cNvSpPr/>
          <p:nvPr/>
        </p:nvSpPr>
        <p:spPr>
          <a:xfrm>
            <a:off x="3893515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8E6FC4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3893515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75" name="Shape 173"/>
          <p:cNvSpPr/>
          <p:nvPr/>
        </p:nvSpPr>
        <p:spPr>
          <a:xfrm>
            <a:off x="4082979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4082979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8" dirty="0"/>
          </a:p>
        </p:txBody>
      </p:sp>
      <p:sp>
        <p:nvSpPr>
          <p:cNvPr id="177" name="Shape 175"/>
          <p:cNvSpPr/>
          <p:nvPr/>
        </p:nvSpPr>
        <p:spPr>
          <a:xfrm>
            <a:off x="4272443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4272443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8" dirty="0"/>
          </a:p>
        </p:txBody>
      </p:sp>
      <p:sp>
        <p:nvSpPr>
          <p:cNvPr id="179" name="Shape 177"/>
          <p:cNvSpPr/>
          <p:nvPr/>
        </p:nvSpPr>
        <p:spPr>
          <a:xfrm>
            <a:off x="4461906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4461906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81" name="Shape 179"/>
          <p:cNvSpPr/>
          <p:nvPr/>
        </p:nvSpPr>
        <p:spPr>
          <a:xfrm>
            <a:off x="4651370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4651370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83" name="Shape 181"/>
          <p:cNvSpPr/>
          <p:nvPr/>
        </p:nvSpPr>
        <p:spPr>
          <a:xfrm>
            <a:off x="4840834" y="3941064"/>
            <a:ext cx="169164" cy="169164"/>
          </a:xfrm>
          <a:prstGeom prst="roundRect">
            <a:avLst>
              <a:gd name="adj" fmla="val 18000"/>
            </a:avLst>
          </a:prstGeom>
          <a:solidFill>
            <a:srgbClr val="BFB7D6"/>
          </a:solidFill>
          <a:ln w="12700">
            <a:solidFill>
              <a:srgbClr val="BFB7D6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4840834" y="3941064"/>
            <a:ext cx="16916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8" dirty="0"/>
          </a:p>
        </p:txBody>
      </p:sp>
      <p:sp>
        <p:nvSpPr>
          <p:cNvPr id="185" name="Text 183"/>
          <p:cNvSpPr txBox="1"/>
          <p:nvPr/>
        </p:nvSpPr>
        <p:spPr>
          <a:xfrm>
            <a:off x="5074920" y="3803904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 e AG existem, mas nenhum A a 10-30 nt do AG</a:t>
            </a:r>
            <a:endParaRPr lang="en-US" sz="1050" dirty="0"/>
          </a:p>
        </p:txBody>
      </p:sp>
      <p:sp>
        <p:nvSpPr>
          <p:cNvPr id="186" name="Text 184"/>
          <p:cNvSpPr txBox="1"/>
          <p:nvPr/>
        </p:nvSpPr>
        <p:spPr>
          <a:xfrm>
            <a:off x="7178040" y="3803904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branch point</a:t>
            </a:r>
            <a:endParaRPr lang="en-US" sz="950" dirty="0"/>
          </a:p>
        </p:txBody>
      </p:sp>
      <p:sp>
        <p:nvSpPr>
          <p:cNvPr id="187" name="Text 18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precedência: uma cascata de decisões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 inválido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21408" y="1234440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21408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sítio 5' ausente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85616" y="1234440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85616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sítio 3' ausente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9824" y="1234440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49824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point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14032" y="1234440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14032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condição satisfeita determina o resultado. Um BUG - branch point implica que os dois sítios foram encontrados.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extensão além da especificação: a regra do "GU falso"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063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 não define esse caso: quando um </a:t>
            </a:r>
            <a:pPr indent="0" marL="0">
              <a:buNone/>
            </a:pPr>
            <a:r>
              <a:rPr lang="en-US" sz="1200" b="1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</a:t>
            </a:r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aparece antes do primeiro </a:t>
            </a:r>
            <a:pPr indent="0" marL="0">
              <a:buNone/>
            </a:pPr>
            <a:r>
              <a:rPr lang="en-US" sz="1200" b="1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</a:t>
            </a:r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"GU" formado em "...AGU..." é falso (o G pertence ao AG anterior). O código trata esse caso como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sítio 5' ausente</a:t>
            </a:r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sítio 3' ausente — sem essa regra, 3 das 40 linhas da entrada oficial cairiam no diagnóstico errado.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Arquitetura: um motor puro e uma interface web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194560" cy="1965960"/>
          </a:xfrm>
          <a:prstGeom prst="roundRect">
            <a:avLst>
              <a:gd name="adj" fmla="val 3721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dados entram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.txt, uma sequência por linha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colar as sequências direto na interface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0" y="1234440"/>
            <a:ext cx="3108960" cy="1965960"/>
          </a:xfrm>
          <a:prstGeom prst="roundRect">
            <a:avLst>
              <a:gd name="adj" fmla="val 4651"/>
            </a:avLst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004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biocompiler_2.py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lógica: não imprime, não lê/grava arquivo, nada executa no import.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286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splicing(RNA)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(diagnostico, mRNA)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validar_caracteres(RNA)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bool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234440"/>
            <a:ext cx="2194560" cy="1965960"/>
          </a:xfrm>
          <a:prstGeom prst="roundRect">
            <a:avLst>
              <a:gd name="adj" fmla="val 3721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664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app_2.py (Streamlit)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0116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resumo por diagnóstico, tabela, relatório da spec e diagnóstico detalhado por entrada.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133856" cy="566928"/>
          </a:xfrm>
          <a:prstGeom prst="roundRect">
            <a:avLst>
              <a:gd name="adj" fmla="val 9677"/>
            </a:avLst>
          </a:prstGeom>
          <a:solidFill>
            <a:srgbClr val="E4DAF5"/>
          </a:solidFill>
          <a:ln w="12700">
            <a:solidFill>
              <a:srgbClr val="E4DA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57600"/>
            <a:ext cx="113385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linha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82496" y="3657600"/>
            <a:ext cx="1133856" cy="566928"/>
          </a:xfrm>
          <a:prstGeom prst="roundRect">
            <a:avLst>
              <a:gd name="adj" fmla="val 9677"/>
            </a:avLst>
          </a:prstGeom>
          <a:solidFill>
            <a:srgbClr val="E4DAF5"/>
          </a:solidFill>
          <a:ln w="12700">
            <a:solidFill>
              <a:srgbClr val="E4DA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82496" y="3657600"/>
            <a:ext cx="113385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caracteres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07792" y="3657600"/>
            <a:ext cx="1133856" cy="566928"/>
          </a:xfrm>
          <a:prstGeom prst="roundRect">
            <a:avLst>
              <a:gd name="adj" fmla="val 9677"/>
            </a:avLst>
          </a:prstGeom>
          <a:solidFill>
            <a:srgbClr val="E4DAF5"/>
          </a:solidFill>
          <a:ln w="12700">
            <a:solidFill>
              <a:srgbClr val="E4DA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07792" y="3657600"/>
            <a:ext cx="113385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sinais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33088" y="3657600"/>
            <a:ext cx="1133856" cy="566928"/>
          </a:xfrm>
          <a:prstGeom prst="roundRect">
            <a:avLst>
              <a:gd name="adj" fmla="val 967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33088" y="3657600"/>
            <a:ext cx="113385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íntron + UNIR éxons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58384" y="3657600"/>
            <a:ext cx="1133856" cy="566928"/>
          </a:xfrm>
          <a:prstGeom prst="roundRect">
            <a:avLst>
              <a:gd name="adj" fmla="val 9677"/>
            </a:avLst>
          </a:prstGeom>
          <a:solidFill>
            <a:srgbClr val="E4DAF5"/>
          </a:solidFill>
          <a:ln w="12700">
            <a:solidFill>
              <a:srgbClr val="E4DA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58384" y="3657600"/>
            <a:ext cx="113385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CAP 5'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83680" y="3657600"/>
            <a:ext cx="1133856" cy="566928"/>
          </a:xfrm>
          <a:prstGeom prst="roundRect">
            <a:avLst>
              <a:gd name="adj" fmla="val 9677"/>
            </a:avLst>
          </a:prstGeom>
          <a:solidFill>
            <a:srgbClr val="E4DAF5"/>
          </a:solidFill>
          <a:ln w="12700">
            <a:solidFill>
              <a:srgbClr val="E4DA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3657600"/>
            <a:ext cx="113385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poli-A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808976" y="3657600"/>
            <a:ext cx="1133856" cy="566928"/>
          </a:xfrm>
          <a:prstGeom prst="roundRect">
            <a:avLst>
              <a:gd name="adj" fmla="val 9677"/>
            </a:avLst>
          </a:prstGeom>
          <a:solidFill>
            <a:srgbClr val="E4DAF5"/>
          </a:solidFill>
          <a:ln w="12700">
            <a:solidFill>
              <a:srgbClr val="E4DA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08976" y="3657600"/>
            <a:ext cx="113385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mRNA + relatório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conceitual do algoritmo (seção 13 da especificação).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A3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app_2.py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E0A339"/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691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a entrada oficial de 40 casos (BioCompiler2_entrada_40_casos_modelo_oficial.txt)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E0A339"/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194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"Executar BioCompiler 2.0"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E0A339"/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2697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as métricas: total, corretas, com erro, taxa de sucesso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E0A339"/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resumo por diagnóstico — 10 linhas em cada um dos 4 casos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365760" cy="365760"/>
          </a:xfrm>
          <a:prstGeom prst="ellipse">
            <a:avLst/>
          </a:prstGeom>
          <a:solidFill>
            <a:srgbClr val="E0A339"/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diagnóstico detalhado de uma entrada e mostrar as etapas ✅/❌/➖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365760" cy="365760"/>
          </a:xfrm>
          <a:prstGeom prst="ellipse">
            <a:avLst/>
          </a:prstGeom>
          <a:solidFill>
            <a:srgbClr val="E0A339"/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resultados.txt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da especificação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74320" cy="2743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37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
</a:t>
            </a:r>
            <a:pPr indent="0" marL="0">
              <a:buNone/>
            </a:pPr>
            <a:r>
              <a:rPr lang="en-US" sz="11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linhas de entrada.txt: CORRETO, sítio 5' ausente e branch point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274320" cy="2743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060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14
</a:t>
            </a:r>
            <a:pPr indent="0" marL="0">
              <a:buNone/>
            </a:pPr>
            <a:r>
              <a:rPr lang="en-US" sz="11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casos ilustrativos (casos 1 a 4)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274320" cy="2743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4747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 9 e 11
</a:t>
            </a:r>
            <a:pPr indent="0" marL="0">
              <a:buNone/>
            </a:pPr>
            <a:r>
              <a:rPr lang="en-US" sz="11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tela e resultados.txt no formato pedido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além dos exemplos oficiais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do branch point (distância até o AG)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057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057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branch point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2057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057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CORRETO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5146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514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CORRETO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5146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2514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branch point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oficial: 40 casos, sem gabarito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CORRETO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310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40 linhas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6073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sítio 5' ausente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36073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36073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40 linhas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3904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sítio 3' ausente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3904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3904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40 linhas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42016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point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766560" y="42016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7223760" y="42016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40 linhas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conclusão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3E2565"/>
          </a:solidFill>
          <a:ln w="12700">
            <a:solidFill>
              <a:srgbClr val="3E256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 vs biologia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 só um íntron por sequência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distância de 10-30 nt do branch point é uma regra didática, não a real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5' e poli-A são marcadores textuais, não a estrutura química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3E2565"/>
          </a:solidFill>
          <a:ln w="12700">
            <a:solidFill>
              <a:srgbClr val="3E256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2.0 entrega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puro: splicing(RNA) -&gt; (diagnóstico, mRNA)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com métricas e diagnóstico detalhado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nos formatos das seções 9 e 11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3E2565"/>
          </a:solidFill>
          <a:ln w="12700">
            <a:solidFill>
              <a:srgbClr val="3E256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Sr. Ribossomo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o mRNA maduro (CAP + éxons + poli-A)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em proteína — trabalho futuro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Reaproveitar o formato de arquivo entre as fases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 Perguntas?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4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  · 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BioCompiler 2.0 - RNA Processor</dc:title>
  <dc:subject>PptxGenJS Presentation</dc:subject>
  <dc:creator>PptxGenJS</dc:creator>
  <cp:lastModifiedBy>PptxGenJS</cp:lastModifiedBy>
  <cp:revision>1</cp:revision>
  <dcterms:created xsi:type="dcterms:W3CDTF">2026-09-13T19:34:17Z</dcterms:created>
  <dcterms:modified xsi:type="dcterms:W3CDTF">2026-09-13T19:34:17Z</dcterms:modified>
</cp:coreProperties>
</file>